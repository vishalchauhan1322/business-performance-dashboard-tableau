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autoAdjust="0"/>
    <p:restoredTop sz="94660" autoAdjust="0"/>
  </p:normalViewPr>
  <p:slideViewPr>
    <p:cSldViewPr snapToGrid="0" snapToObjects="1">
      <p:cViewPr varScale="1">
        <p:scale>
          <a:sx n="84" d="100"/>
          <a:sy n="84" d="100"/>
        </p:scale>
        <p:origin x="0" y="0"/>
      </p:cViewPr>
      <p:guideLst>
        <p:guide orient="horz" pos="2160"/>
        <p:guide pos="288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46583516"/>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066191929"/>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27419666"/>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099398734"/>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20926993"/>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14539012"/>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58261192"/>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88958208"/>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38234173"/>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27708551"/>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87711720"/>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dt" idx="10"/>
          </p:nvPr>
        </p:nvSpPr>
        <p:spPr>
          <a:xfrm rot="0">
            <a:off x="457200" y="6356349"/>
            <a:ext cx="2133600" cy="365125"/>
          </a:xfrm>
          <a:prstGeom prst="rect"/>
          <a:noFill/>
          <a:ln cmpd="sng" cap="flat">
            <a:noFill/>
            <a:prstDash val="solid"/>
            <a:miter/>
          </a:ln>
        </p:spPr>
        <p:txBody>
          <a:bodyPr vert="horz" wrap="square" lIns="91440" tIns="45720" rIns="91440" bIns="45720" anchor="ctr" anchorCtr="0">
            <a:prstTxWarp prst="textNoShape"/>
          </a:bodyPr>
          <a:lstStyle/>
          <a:p>
            <a:pPr algn="l"/>
            <a:r>
              <a:rPr lang="en-US" altLang="zh-CN" sz="1200">
                <a:solidFill>
                  <a:srgbClr val="898989"/>
                </a:solidFill>
                <a:latin typeface="Calibri" pitchFamily="0" charset="0"/>
                <a:ea typeface="宋体" pitchFamily="0" charset="0"/>
                <a:cs typeface="Calibri" pitchFamily="0" charset="0"/>
              </a:rPr>
              <a:t>Date/Time</a:t>
            </a:r>
            <a:endParaRPr lang="zh-CN" altLang="en-US" sz="1200">
              <a:solidFill>
                <a:srgbClr val="898989"/>
              </a:solidFill>
              <a:latin typeface="Calibri" pitchFamily="0" charset="0"/>
              <a:ea typeface="宋体" pitchFamily="0" charset="0"/>
              <a:cs typeface="Calibri" pitchFamily="0" charset="0"/>
            </a:endParaRPr>
          </a:p>
        </p:txBody>
      </p:sp>
      <p:sp>
        <p:nvSpPr>
          <p:cNvPr id="8" name="Text box"/>
          <p:cNvSpPr>
            <a:spLocks noGrp="1"/>
          </p:cNvSpPr>
          <p:nvPr>
            <p:ph type="ftr" idx="11"/>
          </p:nvPr>
        </p:nvSpPr>
        <p:spPr>
          <a:xfrm rot="0">
            <a:off x="3124200" y="6356349"/>
            <a:ext cx="2895600" cy="365125"/>
          </a:xfrm>
          <a:prstGeom prst="rect"/>
          <a:noFill/>
          <a:ln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宋体" pitchFamily="0" charset="0"/>
              <a:cs typeface="Calibri" pitchFamily="0" charset="0"/>
            </a:endParaRPr>
          </a:p>
        </p:txBody>
      </p:sp>
      <p:sp>
        <p:nvSpPr>
          <p:cNvPr id="9" name="Text box"/>
          <p:cNvSpPr>
            <a:spLocks noGrp="1"/>
          </p:cNvSpPr>
          <p:nvPr>
            <p:ph type="sldNum" idx="12"/>
          </p:nvPr>
        </p:nvSpPr>
        <p:spPr>
          <a:xfrm rot="0">
            <a:off x="6553200" y="6356349"/>
            <a:ext cx="2133600"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宋体" pitchFamily="0" charset="0"/>
                <a:cs typeface="Calibri" pitchFamily="0" charset="0"/>
              </a:rPr>
              <a:t>&lt;#&gt;</a:t>
            </a:fld>
            <a:endParaRPr lang="zh-CN" altLang="en-US" sz="1200">
              <a:solidFill>
                <a:srgbClr val="898989"/>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584214403"/>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title"/>
          </p:nvPr>
        </p:nvSpPr>
        <p:spPr>
          <a:xfrm rot="0">
            <a:off x="457200" y="274638"/>
            <a:ext cx="8229600" cy="1143000"/>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Text box"/>
          <p:cNvSpPr>
            <a:spLocks noGrp="1"/>
          </p:cNvSpPr>
          <p:nvPr>
            <p:ph type="body" idx="1"/>
          </p:nvPr>
        </p:nvSpPr>
        <p:spPr>
          <a:xfrm rot="0">
            <a:off x="457200" y="1600200"/>
            <a:ext cx="8229600" cy="4525963"/>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rot="0">
            <a:off x="457200" y="6356349"/>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algn="l"/>
            <a:fld id="{CAD2D6BD-DE1B-4B5F-8B41-2702339687B9}" type="datetime1">
              <a:rPr lang="en-US" altLang="zh-CN" sz="1200">
                <a:solidFill>
                  <a:srgbClr val="898989"/>
                </a:solidFill>
                <a:latin typeface="Calibri" pitchFamily="0" charset="0"/>
                <a:ea typeface="宋体" pitchFamily="0" charset="0"/>
                <a:cs typeface="Calibri" pitchFamily="0" charset="0"/>
              </a:rPr>
              <a:t>9/3/2026</a:t>
            </a:fld>
            <a:endParaRPr lang="zh-CN" altLang="en-US" sz="1200">
              <a:solidFill>
                <a:srgbClr val="898989"/>
              </a:solidFill>
              <a:latin typeface="Calibri" pitchFamily="0" charset="0"/>
              <a:ea typeface="宋体" pitchFamily="0" charset="0"/>
              <a:cs typeface="Calibri" pitchFamily="0" charset="0"/>
            </a:endParaRPr>
          </a:p>
        </p:txBody>
      </p:sp>
      <p:sp>
        <p:nvSpPr>
          <p:cNvPr id="5" name="Text box"/>
          <p:cNvSpPr>
            <a:spLocks noGrp="1"/>
          </p:cNvSpPr>
          <p:nvPr>
            <p:ph type="ftr" idx="3"/>
          </p:nvPr>
        </p:nvSpPr>
        <p:spPr>
          <a:xfrm rot="0">
            <a:off x="3124200" y="6356349"/>
            <a:ext cx="28956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宋体" pitchFamily="0" charset="0"/>
              <a:cs typeface="Calibri" pitchFamily="0" charset="0"/>
            </a:endParaRPr>
          </a:p>
        </p:txBody>
      </p:sp>
      <p:sp>
        <p:nvSpPr>
          <p:cNvPr id="6" name="Text box"/>
          <p:cNvSpPr>
            <a:spLocks noGrp="1"/>
          </p:cNvSpPr>
          <p:nvPr>
            <p:ph type="sldNum" idx="4"/>
          </p:nvPr>
        </p:nvSpPr>
        <p:spPr>
          <a:xfrm rot="0">
            <a:off x="6553200" y="6356349"/>
            <a:ext cx="21336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宋体" pitchFamily="0" charset="0"/>
                <a:cs typeface="Calibri" pitchFamily="0" charset="0"/>
              </a:rPr>
              <a:t>&lt;#&gt;</a:t>
            </a:fld>
            <a:endParaRPr lang="zh-CN" altLang="en-US" sz="1200">
              <a:solidFill>
                <a:srgbClr val="898989"/>
              </a:solidFill>
              <a:latin typeface="Calibri" pitchFamily="0" charset="0"/>
              <a:ea typeface="宋体" pitchFamily="0" charset="0"/>
              <a:cs typeface="Calibri" pitchFamily="0" charset="0"/>
            </a:endParaRPr>
          </a:p>
        </p:txBody>
      </p:sp>
    </p:spTree>
    <p:extLst>
      <p:ext uri="{BB962C8B-B14F-4D97-AF65-F5344CB8AC3E}">
        <p14:creationId xmlns:p14="http://schemas.microsoft.com/office/powerpoint/2010/main" val="17214853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Calibri" pitchFamily="0" charset="0"/>
          <a:ea typeface="宋体" pitchFamily="0" charset="0"/>
          <a:cs typeface="Calibri" pitchFamily="0" charset="0"/>
        </a:defRPr>
      </a:lvl1pPr>
    </p:titleStyle>
    <p:bodyStyle>
      <a:lvl1pPr marL="342900" indent="-342900" algn="l" defTabSz="914400" eaLnBrk="1" fontAlgn="auto" latinLnBrk="0" hangingPunct="1">
        <a:spcBef>
          <a:spcPct val="20000"/>
        </a:spcBef>
        <a:buFont typeface="Arial" pitchFamily="0" charset="0"/>
        <a:buChar char="•"/>
        <a:defRPr sz="3200" kern="1200">
          <a:solidFill>
            <a:schemeClr val="tx1"/>
          </a:solidFill>
          <a:latin typeface="Calibri" pitchFamily="0" charset="0"/>
          <a:ea typeface="宋体" pitchFamily="0" charset="0"/>
          <a:cs typeface="Calibri" pitchFamily="0" charset="0"/>
        </a:defRPr>
      </a:lvl1pPr>
      <a:lvl2pPr marL="742950" indent="-285750" algn="l" defTabSz="914400" eaLnBrk="1" fontAlgn="auto" latinLnBrk="0" hangingPunct="1">
        <a:spcBef>
          <a:spcPct val="20000"/>
        </a:spcBef>
        <a:buFont typeface="Arial" pitchFamily="0" charset="0"/>
        <a:buChar char="–"/>
        <a:defRPr sz="2800" kern="1200">
          <a:solidFill>
            <a:schemeClr val="tx1"/>
          </a:solidFill>
          <a:latin typeface="Calibri" pitchFamily="0" charset="0"/>
          <a:ea typeface="宋体" pitchFamily="0" charset="0"/>
          <a:cs typeface="Calibri" pitchFamily="0" charset="0"/>
        </a:defRPr>
      </a:lvl2pPr>
      <a:lvl3pPr marL="1143000" indent="-228600" algn="l" defTabSz="914400" eaLnBrk="1" fontAlgn="auto" latinLnBrk="0" hangingPunct="1">
        <a:spcBef>
          <a:spcPct val="20000"/>
        </a:spcBef>
        <a:buFont typeface="Arial" pitchFamily="0" charset="0"/>
        <a:buChar char="•"/>
        <a:defRPr sz="2400" kern="1200">
          <a:solidFill>
            <a:schemeClr val="tx1"/>
          </a:solidFill>
          <a:latin typeface="Calibri" pitchFamily="0" charset="0"/>
          <a:ea typeface="宋体" pitchFamily="0" charset="0"/>
          <a:cs typeface="Calibri" pitchFamily="0" charset="0"/>
        </a:defRPr>
      </a:lvl3pPr>
      <a:lvl4pPr marL="16002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4pPr>
      <a:lvl5pPr marL="20574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5pPr>
      <a:lvl6pPr marL="25146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6pPr>
      <a:lvl7pPr marL="29718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7pPr>
      <a:lvl8pPr marL="34290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8pPr>
      <a:lvl9pPr marL="34290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png"/><Relationship Id="rId3" Type="http://schemas.openxmlformats.org/officeDocument/2006/relationships/image" Target="../media/3.png"/><Relationship Id="rId4" Type="http://schemas.openxmlformats.org/officeDocument/2006/relationships/image" Target="../media/4.png"/><Relationship Id="rId5"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5.png"/><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6.png"/><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7.png"/><Relationship Id="rId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8.png"/><Relationship Id="rId4" Type="http://schemas.openxmlformats.org/officeDocument/2006/relationships/image" Target="../media/9.png"/><Relationship Id="rId5" Type="http://schemas.openxmlformats.org/officeDocument/2006/relationships/image" Target="../media/10.png"/><Relationship Id="rId6" Type="http://schemas.openxmlformats.org/officeDocument/2006/relationships/image" Target="../media/11.png"/><Relationship Id="rId7"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12.png"/><Relationship Id="rId4" Type="http://schemas.openxmlformats.org/officeDocument/2006/relationships/image" Target="../media/13.png"/><Relationship Id="rId5" Type="http://schemas.openxmlformats.org/officeDocument/2006/relationships/image" Target="../media/14.png"/><Relationship Id="rId6" Type="http://schemas.openxmlformats.org/officeDocument/2006/relationships/image" Target="../media/15.png"/><Relationship Id="rId7" Type="http://schemas.openxmlformats.org/officeDocument/2006/relationships/image" Target="../media/16.png"/><Relationship Id="rId8" Type="http://schemas.openxmlformats.org/officeDocument/2006/relationships/image" Target="../media/17.png"/><Relationship Id="rId9"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18.png"/><Relationship Id="rId4" Type="http://schemas.openxmlformats.org/officeDocument/2006/relationships/image" Target="../media/19.png"/><Relationship Id="rId5" Type="http://schemas.openxmlformats.org/officeDocument/2006/relationships/image" Target="../media/20.png"/><Relationship Id="rId6" Type="http://schemas.openxmlformats.org/officeDocument/2006/relationships/image" Target="../media/20.png"/><Relationship Id="rId7" Type="http://schemas.openxmlformats.org/officeDocument/2006/relationships/image" Target="../media/21.png"/><Relationship Id="rId8" Type="http://schemas.openxmlformats.org/officeDocument/2006/relationships/image" Target="../media/22.png"/><Relationship Id="rId9" Type="http://schemas.openxmlformats.org/officeDocument/2006/relationships/image" Target="../media/23.png"/><Relationship Id="rId10"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24.png"/><Relationship Id="rId4" Type="http://schemas.openxmlformats.org/officeDocument/2006/relationships/image" Target="../media/25.png"/><Relationship Id="rId5"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26.png"/><Relationship Id="rId4" Type="http://schemas.openxmlformats.org/officeDocument/2006/relationships/image" Target="../media/27.png"/><Relationship Id="rId5" Type="http://schemas.openxmlformats.org/officeDocument/2006/relationships/image" Target="../media/27.png"/><Relationship Id="rId6" Type="http://schemas.openxmlformats.org/officeDocument/2006/relationships/image" Target="../media/27.png"/><Relationship Id="rId7" Type="http://schemas.openxmlformats.org/officeDocument/2006/relationships/image" Target="../media/27.png"/><Relationship Id="rId8" Type="http://schemas.openxmlformats.org/officeDocument/2006/relationships/image" Target="../media/27.png"/><Relationship Id="rId9"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28.png"/><Relationship Id="rId4" Type="http://schemas.openxmlformats.org/officeDocument/2006/relationships/image" Target="../media/29.png"/><Relationship Id="rId5" Type="http://schemas.openxmlformats.org/officeDocument/2006/relationships/image" Target="../media/30.png"/><Relationship Id="rId6" Type="http://schemas.openxmlformats.org/officeDocument/2006/relationships/image" Target="../media/31.png"/><Relationship Id="rId7"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32.png"/><Relationship Id="rId4" Type="http://schemas.openxmlformats.org/officeDocument/2006/relationships/image" Target="../media/33.png"/><Relationship Id="rId5" Type="http://schemas.openxmlformats.org/officeDocument/2006/relationships/image" Target="../media/34.png"/><Relationship Id="rId6" Type="http://schemas.openxmlformats.org/officeDocument/2006/relationships/image" Target="../media/35.png"/><Relationship Id="rId7" Type="http://schemas.openxmlformats.org/officeDocument/2006/relationships/image" Target="../media/36.png"/><Relationship Id="rId8" Type="http://schemas.openxmlformats.org/officeDocument/2006/relationships/image" Target="../media/37.png"/><Relationship Id="rId9" Type="http://schemas.openxmlformats.org/officeDocument/2006/relationships/image" Target="../media/38.png"/><Relationship Id="rId10" Type="http://schemas.openxmlformats.org/officeDocument/2006/relationships/image" Target="../media/39.png"/><Relationship Id="rId11" Type="http://schemas.openxmlformats.org/officeDocument/2006/relationships/image" Target="../media/40.png"/><Relationship Id="rId12" Type="http://schemas.openxmlformats.org/officeDocument/2006/relationships/image" Target="../media/41.png"/><Relationship Id="rId13"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42.png"/><Relationship Id="rId4" Type="http://schemas.openxmlformats.org/officeDocument/2006/relationships/image" Target="../media/43.png"/><Relationship Id="rId5" Type="http://schemas.openxmlformats.org/officeDocument/2006/relationships/image" Target="../media/44.png"/><Relationship Id="rId6" Type="http://schemas.openxmlformats.org/officeDocument/2006/relationships/image" Target="../media/45.png"/><Relationship Id="rId7"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46.png"/><Relationship Id="rId4" Type="http://schemas.openxmlformats.org/officeDocument/2006/relationships/image" Target="../media/47.png"/><Relationship Id="rId5" Type="http://schemas.openxmlformats.org/officeDocument/2006/relationships/image" Target="../media/48.jpg"/><Relationship Id="rId6"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49.png"/><Relationship Id="rId4" Type="http://schemas.openxmlformats.org/officeDocument/2006/relationships/image" Target="../media/50.png"/><Relationship Id="rId5" Type="http://schemas.openxmlformats.org/officeDocument/2006/relationships/image" Target="../media/51.jpg"/><Relationship Id="rId6"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52.png"/><Relationship Id="rId4" Type="http://schemas.openxmlformats.org/officeDocument/2006/relationships/image" Target="../media/48.jpg"/><Relationship Id="rId5" Type="http://schemas.openxmlformats.org/officeDocument/2006/relationships/image" Target="../media/51.jpg"/><Relationship Id="rId6"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24.png"/><Relationship Id="rId4" Type="http://schemas.openxmlformats.org/officeDocument/2006/relationships/image" Target="../media/25.png"/><Relationship Id="rId5"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32.png"/><Relationship Id="rId4" Type="http://schemas.openxmlformats.org/officeDocument/2006/relationships/image" Target="../media/53.png"/><Relationship Id="rId5" Type="http://schemas.openxmlformats.org/officeDocument/2006/relationships/image" Target="../media/54.png"/><Relationship Id="rId6" Type="http://schemas.openxmlformats.org/officeDocument/2006/relationships/image" Target="../media/54.png"/><Relationship Id="rId7"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55.png"/><Relationship Id="rId4" Type="http://schemas.openxmlformats.org/officeDocument/2006/relationships/image" Target="../media/56.jpg"/><Relationship Id="rId5" Type="http://schemas.openxmlformats.org/officeDocument/2006/relationships/image" Target="../media/57.jpg"/><Relationship Id="rId6"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58.png"/><Relationship Id="rId4" Type="http://schemas.openxmlformats.org/officeDocument/2006/relationships/image" Target="../media/58.png"/><Relationship Id="rId5" Type="http://schemas.openxmlformats.org/officeDocument/2006/relationships/image" Target="../media/58.png"/><Relationship Id="rId6" Type="http://schemas.openxmlformats.org/officeDocument/2006/relationships/image" Target="../media/58.png"/><Relationship Id="rId7" Type="http://schemas.openxmlformats.org/officeDocument/2006/relationships/image" Target="../media/59.png"/><Relationship Id="rId8" Type="http://schemas.openxmlformats.org/officeDocument/2006/relationships/image" Target="../media/60.png"/><Relationship Id="rId9"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61.png"/><Relationship Id="rId4" Type="http://schemas.openxmlformats.org/officeDocument/2006/relationships/image" Target="../media/62.jpg"/><Relationship Id="rId5" Type="http://schemas.openxmlformats.org/officeDocument/2006/relationships/image" Target="../media/63.jpg"/><Relationship Id="rId6"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64.png"/><Relationship Id="rId4" Type="http://schemas.openxmlformats.org/officeDocument/2006/relationships/image" Target="../media/64.png"/><Relationship Id="rId5" Type="http://schemas.openxmlformats.org/officeDocument/2006/relationships/image" Target="../media/64.png"/><Relationship Id="rId6" Type="http://schemas.openxmlformats.org/officeDocument/2006/relationships/image" Target="../media/64.png"/><Relationship Id="rId7" Type="http://schemas.openxmlformats.org/officeDocument/2006/relationships/image" Target="../media/65.png"/><Relationship Id="rId8" Type="http://schemas.openxmlformats.org/officeDocument/2006/relationships/image" Target="../media/65.png"/><Relationship Id="rId9"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66.png"/><Relationship Id="rId4" Type="http://schemas.openxmlformats.org/officeDocument/2006/relationships/image" Target="../media/67.png"/><Relationship Id="rId5"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60.png"/><Relationship Id="rId4"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68.png"/><Relationship Id="rId4" Type="http://schemas.openxmlformats.org/officeDocument/2006/relationships/image" Target="../media/69.png"/><Relationship Id="rId5" Type="http://schemas.openxmlformats.org/officeDocument/2006/relationships/image" Target="../media/69.png"/><Relationship Id="rId6" Type="http://schemas.openxmlformats.org/officeDocument/2006/relationships/image" Target="../media/69.png"/><Relationship Id="rId7"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3.png"/><Relationship Id="rId3" Type="http://schemas.openxmlformats.org/officeDocument/2006/relationships/image" Target="../media/70.png"/><Relationship Id="rId4" Type="http://schemas.openxmlformats.org/officeDocument/2006/relationships/image" Target="../media/71.png"/><Relationship Id="rId5" Type="http://schemas.openxmlformats.org/officeDocument/2006/relationships/image" Target="../media/72.png"/><Relationship Id="rId6" Type="http://schemas.openxmlformats.org/officeDocument/2006/relationships/image" Target="../media/73.png"/><Relationship Id="rId7" Type="http://schemas.openxmlformats.org/officeDocument/2006/relationships/slideLayout" Target="../slideLayouts/slideLayout12.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10"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11" name="Image" descr="image.png"/>
          <p:cNvPicPr>
            <a:picLocks noChangeAspect="1"/>
          </p:cNvPicPr>
          <p:nvPr/>
        </p:nvPicPr>
        <p:blipFill>
          <a:blip r:embed="rId2" cstate="print"/>
          <a:stretch>
            <a:fillRect/>
          </a:stretch>
        </p:blipFill>
        <p:spPr>
          <a:xfrm rot="0">
            <a:off x="542925" y="466725"/>
            <a:ext cx="11106150" cy="5924550"/>
          </a:xfrm>
          <a:prstGeom prst="rect"/>
          <a:noFill/>
          <a:ln w="12700" cmpd="sng" cap="flat">
            <a:noFill/>
            <a:prstDash val="solid"/>
            <a:miter/>
          </a:ln>
        </p:spPr>
      </p:pic>
      <p:pic>
        <p:nvPicPr>
          <p:cNvPr id="12" name="Image" descr="image.png"/>
          <p:cNvPicPr>
            <a:picLocks noChangeAspect="1"/>
          </p:cNvPicPr>
          <p:nvPr/>
        </p:nvPicPr>
        <p:blipFill>
          <a:blip r:embed="rId3" cstate="print"/>
          <a:stretch>
            <a:fillRect/>
          </a:stretch>
        </p:blipFill>
        <p:spPr>
          <a:xfrm rot="0">
            <a:off x="542925" y="6410325"/>
            <a:ext cx="11106150" cy="247649"/>
          </a:xfrm>
          <a:prstGeom prst="rect"/>
          <a:noFill/>
          <a:ln w="12700" cmpd="sng" cap="flat">
            <a:noFill/>
            <a:prstDash val="solid"/>
            <a:miter/>
          </a:ln>
        </p:spPr>
      </p:pic>
      <p:pic>
        <p:nvPicPr>
          <p:cNvPr id="13" name="Image" descr="image.png"/>
          <p:cNvPicPr>
            <a:picLocks noChangeAspect="1"/>
          </p:cNvPicPr>
          <p:nvPr/>
        </p:nvPicPr>
        <p:blipFill>
          <a:blip r:embed="rId4" cstate="print"/>
          <a:stretch>
            <a:fillRect/>
          </a:stretch>
        </p:blipFill>
        <p:spPr>
          <a:xfrm rot="0">
            <a:off x="1973609" y="3388965"/>
            <a:ext cx="8244780" cy="1209674"/>
          </a:xfrm>
          <a:prstGeom prst="rect"/>
          <a:noFill/>
          <a:ln w="12700" cmpd="sng" cap="flat">
            <a:noFill/>
            <a:prstDash val="solid"/>
            <a:miter/>
          </a:ln>
        </p:spPr>
      </p:pic>
      <p:sp>
        <p:nvSpPr>
          <p:cNvPr id="15" name="Rectangle"/>
          <p:cNvSpPr>
            <a:spLocks/>
          </p:cNvSpPr>
          <p:nvPr/>
        </p:nvSpPr>
        <p:spPr>
          <a:xfrm rot="0">
            <a:off x="11010900" y="6515100"/>
            <a:ext cx="638174"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16" name="Rectangle"/>
          <p:cNvSpPr>
            <a:spLocks/>
          </p:cNvSpPr>
          <p:nvPr/>
        </p:nvSpPr>
        <p:spPr>
          <a:xfrm rot="0">
            <a:off x="2328862" y="1057275"/>
            <a:ext cx="7534274" cy="22860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1800"/>
              </a:lnSpc>
              <a:spcBef>
                <a:spcPts val="0"/>
              </a:spcBef>
              <a:spcAft>
                <a:spcPts val="0"/>
              </a:spcAft>
              <a:buNone/>
            </a:pPr>
            <a:r>
              <a:rPr lang="en-US" altLang="zh-CN" sz="1200" b="0" i="0" u="none" strike="noStrike" kern="1200" cap="none" spc="0" baseline="0">
                <a:solidFill>
                  <a:srgbClr val="64748B"/>
                </a:solidFill>
                <a:latin typeface="Inter SemiBold" pitchFamily="0" charset="0"/>
                <a:ea typeface="宋体" pitchFamily="0" charset="0"/>
                <a:cs typeface="Calibri" pitchFamily="0" charset="0"/>
              </a:rPr>
              <a:t>INTERNSHIP PROJECT PRESENTATION</a:t>
            </a:r>
            <a:endParaRPr lang="zh-CN" altLang="en-US" sz="1200" b="0" i="0" u="none" strike="noStrike" kern="1200" cap="none" spc="0" baseline="0">
              <a:solidFill>
                <a:srgbClr val="64748B"/>
              </a:solidFill>
              <a:latin typeface="Inter SemiBold" pitchFamily="0" charset="0"/>
              <a:ea typeface="宋体" pitchFamily="0" charset="0"/>
              <a:cs typeface="Calibri" pitchFamily="0" charset="0"/>
            </a:endParaRPr>
          </a:p>
        </p:txBody>
      </p:sp>
      <p:sp>
        <p:nvSpPr>
          <p:cNvPr id="17" name="Rectangle"/>
          <p:cNvSpPr>
            <a:spLocks/>
          </p:cNvSpPr>
          <p:nvPr/>
        </p:nvSpPr>
        <p:spPr>
          <a:xfrm rot="0">
            <a:off x="2140505" y="1400174"/>
            <a:ext cx="7910988" cy="434279"/>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3420"/>
              </a:lnSpc>
              <a:spcBef>
                <a:spcPts val="0"/>
              </a:spcBef>
              <a:spcAft>
                <a:spcPts val="0"/>
              </a:spcAft>
              <a:buNone/>
            </a:pPr>
            <a:r>
              <a:rPr lang="en-US" altLang="zh-CN" sz="2850" b="1" i="0" u="none" strike="noStrike" kern="1200" cap="none" spc="0" baseline="0">
                <a:solidFill>
                  <a:srgbClr val="1E3A8A"/>
                </a:solidFill>
                <a:latin typeface="Inter" pitchFamily="0" charset="0"/>
                <a:ea typeface="宋体" pitchFamily="0" charset="0"/>
                <a:cs typeface="Calibri" pitchFamily="0" charset="0"/>
              </a:rPr>
              <a:t>ABC Retail Business Performance Analysis</a:t>
            </a:r>
            <a:endParaRPr lang="zh-CN" altLang="en-US" sz="2850" b="1" i="0" u="none" strike="noStrike" kern="1200" cap="none" spc="0" baseline="0">
              <a:solidFill>
                <a:srgbClr val="1E3A8A"/>
              </a:solidFill>
              <a:latin typeface="Inter" pitchFamily="0" charset="0"/>
              <a:ea typeface="宋体" pitchFamily="0" charset="0"/>
              <a:cs typeface="Calibri" pitchFamily="0" charset="0"/>
            </a:endParaRPr>
          </a:p>
        </p:txBody>
      </p:sp>
      <p:sp>
        <p:nvSpPr>
          <p:cNvPr id="18" name="Rectangle"/>
          <p:cNvSpPr>
            <a:spLocks/>
          </p:cNvSpPr>
          <p:nvPr/>
        </p:nvSpPr>
        <p:spPr>
          <a:xfrm rot="0">
            <a:off x="2328862" y="1948755"/>
            <a:ext cx="7534274"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2475"/>
              </a:lnSpc>
              <a:spcBef>
                <a:spcPts val="0"/>
              </a:spcBef>
              <a:spcAft>
                <a:spcPts val="0"/>
              </a:spcAft>
              <a:buNone/>
            </a:pPr>
            <a:r>
              <a:rPr lang="en-US" altLang="zh-CN" sz="1650" b="0" i="0" u="none" strike="noStrike" kern="1200" cap="none" spc="0" baseline="0">
                <a:solidFill>
                  <a:srgbClr val="475569"/>
                </a:solidFill>
                <a:latin typeface="Inter Medium" pitchFamily="0" charset="0"/>
                <a:ea typeface="宋体" pitchFamily="0" charset="0"/>
                <a:cs typeface="Calibri" pitchFamily="0" charset="0"/>
              </a:rPr>
              <a:t>Using Tableau</a:t>
            </a:r>
            <a:endParaRPr lang="zh-CN" altLang="en-US" sz="16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19" name="Rectangle"/>
          <p:cNvSpPr>
            <a:spLocks/>
          </p:cNvSpPr>
          <p:nvPr/>
        </p:nvSpPr>
        <p:spPr>
          <a:xfrm rot="0">
            <a:off x="1973609" y="3588990"/>
            <a:ext cx="8244780" cy="257174"/>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2025"/>
              </a:lnSpc>
              <a:spcBef>
                <a:spcPts val="0"/>
              </a:spcBef>
              <a:spcAft>
                <a:spcPts val="0"/>
              </a:spcAft>
              <a:buNone/>
            </a:pPr>
            <a:r>
              <a:rPr lang="en-US" altLang="zh-CN" sz="1350" b="1" i="0" u="none" strike="noStrike" kern="1200" cap="none" spc="0" baseline="0">
                <a:solidFill>
                  <a:srgbClr val="334155"/>
                </a:solidFill>
                <a:latin typeface="Inter" pitchFamily="0" charset="0"/>
                <a:ea typeface="宋体" pitchFamily="0" charset="0"/>
                <a:cs typeface="Calibri" pitchFamily="0" charset="0"/>
              </a:rPr>
              <a:t>Submitted By:</a:t>
            </a:r>
            <a:r>
              <a:rPr lang="en-US" altLang="zh-CN" sz="1350" b="0" i="0" u="none" strike="noStrike" kern="1200" cap="none" spc="0" baseline="0">
                <a:solidFill>
                  <a:srgbClr val="334155"/>
                </a:solidFill>
                <a:latin typeface="Inter" pitchFamily="0" charset="0"/>
                <a:ea typeface="宋体" pitchFamily="0" charset="0"/>
                <a:cs typeface="Calibri" pitchFamily="0" charset="0"/>
              </a:rPr>
              <a:t> Vishal Chauhan</a:t>
            </a:r>
            <a:endParaRPr lang="zh-CN" altLang="en-US" sz="1350" b="0" i="0" u="none" strike="noStrike" kern="1200" cap="none" spc="0" baseline="0">
              <a:solidFill>
                <a:srgbClr val="334155"/>
              </a:solidFill>
              <a:latin typeface="Inter" pitchFamily="0" charset="0"/>
              <a:ea typeface="宋体" pitchFamily="0" charset="0"/>
              <a:cs typeface="Calibri" pitchFamily="0" charset="0"/>
            </a:endParaRPr>
          </a:p>
        </p:txBody>
      </p:sp>
      <p:sp>
        <p:nvSpPr>
          <p:cNvPr id="20" name="Rectangle"/>
          <p:cNvSpPr>
            <a:spLocks/>
          </p:cNvSpPr>
          <p:nvPr/>
        </p:nvSpPr>
        <p:spPr>
          <a:xfrm rot="0">
            <a:off x="1973609" y="3903315"/>
            <a:ext cx="8244780" cy="22860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1800"/>
              </a:lnSpc>
              <a:spcBef>
                <a:spcPts val="0"/>
              </a:spcBef>
              <a:spcAft>
                <a:spcPts val="0"/>
              </a:spcAft>
              <a:buNone/>
            </a:pPr>
            <a:r>
              <a:rPr lang="en-US" altLang="zh-CN" sz="1200" b="1" i="0" u="none" strike="noStrike" kern="1200" cap="none" spc="0" baseline="0">
                <a:solidFill>
                  <a:srgbClr val="475569"/>
                </a:solidFill>
                <a:latin typeface="Inter" pitchFamily="0" charset="0"/>
                <a:ea typeface="宋体" pitchFamily="0" charset="0"/>
                <a:cs typeface="Calibri" pitchFamily="0" charset="0"/>
              </a:rPr>
              <a:t>B.Com</a:t>
            </a:r>
            <a:endParaRPr lang="zh-CN" altLang="en-US" sz="1200" b="0" i="0" u="none" strike="noStrike" kern="1200" cap="none" spc="0" baseline="0">
              <a:solidFill>
                <a:srgbClr val="475569"/>
              </a:solidFill>
              <a:latin typeface="Inter" pitchFamily="0" charset="0"/>
              <a:ea typeface="宋体" pitchFamily="0" charset="0"/>
              <a:cs typeface="Calibri" pitchFamily="0" charset="0"/>
            </a:endParaRPr>
          </a:p>
        </p:txBody>
      </p:sp>
      <p:sp>
        <p:nvSpPr>
          <p:cNvPr id="21" name="Rectangle"/>
          <p:cNvSpPr>
            <a:spLocks/>
          </p:cNvSpPr>
          <p:nvPr/>
        </p:nvSpPr>
        <p:spPr>
          <a:xfrm rot="0">
            <a:off x="1973609" y="4170014"/>
            <a:ext cx="8244780" cy="22860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1800"/>
              </a:lnSpc>
              <a:spcBef>
                <a:spcPts val="0"/>
              </a:spcBef>
              <a:spcAft>
                <a:spcPts val="0"/>
              </a:spcAft>
              <a:buNone/>
            </a:pPr>
            <a:r>
              <a:rPr lang="en-US" altLang="zh-CN" sz="1200" b="1" i="0" u="none" strike="noStrike" kern="1200" cap="none" spc="0" baseline="0">
                <a:solidFill>
                  <a:srgbClr val="475569"/>
                </a:solidFill>
                <a:latin typeface="Inter" pitchFamily="0" charset="0"/>
                <a:ea typeface="宋体" pitchFamily="0" charset="0"/>
                <a:cs typeface="Calibri" pitchFamily="0" charset="0"/>
              </a:rPr>
              <a:t>Asian School of Business</a:t>
            </a:r>
            <a:endParaRPr lang="zh-CN" altLang="en-US" sz="1200" b="0" i="0" u="none" strike="noStrike" kern="1200" cap="none" spc="0" baseline="0">
              <a:solidFill>
                <a:srgbClr val="475569"/>
              </a:solidFill>
              <a:latin typeface="Inter" pitchFamily="0" charset="0"/>
              <a:ea typeface="宋体" pitchFamily="0" charset="0"/>
              <a:cs typeface="Calibri" pitchFamily="0" charset="0"/>
            </a:endParaRPr>
          </a:p>
        </p:txBody>
      </p:sp>
      <p:sp>
        <p:nvSpPr>
          <p:cNvPr id="22" name="Rectangle"/>
          <p:cNvSpPr>
            <a:spLocks/>
          </p:cNvSpPr>
          <p:nvPr/>
        </p:nvSpPr>
        <p:spPr>
          <a:xfrm rot="0">
            <a:off x="4681537" y="5495925"/>
            <a:ext cx="2828924" cy="200024"/>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1575"/>
              </a:lnSpc>
              <a:spcBef>
                <a:spcPts val="0"/>
              </a:spcBef>
              <a:spcAft>
                <a:spcPts val="0"/>
              </a:spcAft>
              <a:buNone/>
            </a:pPr>
            <a:endParaRPr lang="zh-CN" altLang="en-US" sz="1050" b="0" i="0" u="none" strike="noStrike" kern="1200" cap="none" spc="0" baseline="0">
              <a:solidFill>
                <a:srgbClr val="64748B"/>
              </a:solidFill>
              <a:latin typeface="Inter" pitchFamily="0" charset="0"/>
              <a:ea typeface="宋体" pitchFamily="0" charset="0"/>
              <a:cs typeface="Calibri" pitchFamily="0" charset="0"/>
            </a:endParaRPr>
          </a:p>
        </p:txBody>
      </p:sp>
      <p:sp>
        <p:nvSpPr>
          <p:cNvPr id="23" name="Rectangle"/>
          <p:cNvSpPr>
            <a:spLocks/>
          </p:cNvSpPr>
          <p:nvPr/>
        </p:nvSpPr>
        <p:spPr>
          <a:xfrm rot="0">
            <a:off x="4681537" y="5695950"/>
            <a:ext cx="2828924" cy="200024"/>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1575"/>
              </a:lnSpc>
              <a:spcBef>
                <a:spcPts val="0"/>
              </a:spcBef>
              <a:spcAft>
                <a:spcPts val="0"/>
              </a:spcAft>
              <a:buNone/>
            </a:pPr>
            <a:endParaRPr lang="zh-CN" altLang="en-US" sz="1050" b="0" i="0" u="none" strike="noStrike" kern="1200" cap="none" spc="0" baseline="0">
              <a:solidFill>
                <a:srgbClr val="64748B"/>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529818257"/>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24"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25"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26" name="Image" descr="image.png"/>
          <p:cNvPicPr>
            <a:picLocks noChangeAspect="1"/>
          </p:cNvPicPr>
          <p:nvPr/>
        </p:nvPicPr>
        <p:blipFill>
          <a:blip r:embed="rId3" cstate="print"/>
          <a:stretch>
            <a:fillRect/>
          </a:stretch>
        </p:blipFill>
        <p:spPr>
          <a:xfrm rot="0">
            <a:off x="542925" y="1181100"/>
            <a:ext cx="11106150" cy="5210175"/>
          </a:xfrm>
          <a:prstGeom prst="rect"/>
          <a:noFill/>
          <a:ln w="12700" cmpd="sng" cap="flat">
            <a:noFill/>
            <a:prstDash val="solid"/>
            <a:miter/>
          </a:ln>
        </p:spPr>
      </p:pic>
      <p:sp>
        <p:nvSpPr>
          <p:cNvPr id="27"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Internship Project Certificate</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28" name="Rectangle"/>
          <p:cNvSpPr>
            <a:spLocks/>
          </p:cNvSpPr>
          <p:nvPr/>
        </p:nvSpPr>
        <p:spPr>
          <a:xfrm rot="0">
            <a:off x="542925" y="933450"/>
            <a:ext cx="11106150" cy="19050"/>
          </a:xfrm>
          <a:prstGeom prst="rect"/>
          <a:solidFill>
            <a:srgbClr val="E2E8F0"/>
          </a:solidFill>
          <a:ln w="9525" cmpd="sng" cap="flat">
            <a:noFill/>
            <a:prstDash val="solid"/>
            <a:round/>
          </a:ln>
        </p:spPr>
      </p:sp>
      <p:sp>
        <p:nvSpPr>
          <p:cNvPr id="30" name="Rectangle"/>
          <p:cNvSpPr>
            <a:spLocks/>
          </p:cNvSpPr>
          <p:nvPr/>
        </p:nvSpPr>
        <p:spPr>
          <a:xfrm rot="0">
            <a:off x="10991850" y="6515100"/>
            <a:ext cx="6572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31" name="Rectangle"/>
          <p:cNvSpPr>
            <a:spLocks/>
          </p:cNvSpPr>
          <p:nvPr/>
        </p:nvSpPr>
        <p:spPr>
          <a:xfrm rot="0">
            <a:off x="857250" y="2703760"/>
            <a:ext cx="10477499" cy="109728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16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This is to certify that the internship project entitled “ABC Retail Business Performance Analysis using Tableau” was completed by Vishal Chauhan, B.Com student at Asian School of Business, under my guidance and supervision.
</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2" name="Rectangle"/>
          <p:cNvSpPr>
            <a:spLocks/>
          </p:cNvSpPr>
          <p:nvPr/>
        </p:nvSpPr>
        <p:spPr>
          <a:xfrm rot="0">
            <a:off x="857250" y="4011066"/>
            <a:ext cx="10477499"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To the best of my knowledge, the work presented here is a genuine record of the internship project completed by the student.</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p:txBody>
      </p:sp>
      <p:sp>
        <p:nvSpPr>
          <p:cNvPr id="33" name="Rectangle"/>
          <p:cNvSpPr>
            <a:spLocks/>
          </p:cNvSpPr>
          <p:nvPr/>
        </p:nvSpPr>
        <p:spPr>
          <a:xfrm rot="0">
            <a:off x="595312" y="1495425"/>
            <a:ext cx="11001375" cy="26670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800" b="0" i="0" u="none" strike="noStrike" kern="1200" cap="none" spc="0" baseline="0">
                <a:solidFill>
                  <a:srgbClr val="1E3A8A"/>
                </a:solidFill>
                <a:latin typeface="Inter SemiBold" pitchFamily="0" charset="0"/>
                <a:ea typeface="宋体" pitchFamily="0" charset="0"/>
                <a:cs typeface="Calibri" pitchFamily="0" charset="0"/>
              </a:rPr>
              <a:t>CERTIFICATE OF APPROVAL</a:t>
            </a:r>
            <a:endParaRPr lang="zh-CN" altLang="en-US" sz="1800" b="0" i="0" u="none" strike="noStrike" kern="1200" cap="none" spc="0" baseline="0">
              <a:solidFill>
                <a:srgbClr val="1E3A8A"/>
              </a:solidFill>
              <a:latin typeface="Inter SemiBold" pitchFamily="0" charset="0"/>
              <a:ea typeface="宋体" pitchFamily="0" charset="0"/>
              <a:cs typeface="Calibri" pitchFamily="0" charset="0"/>
            </a:endParaRPr>
          </a:p>
        </p:txBody>
      </p:sp>
      <p:sp>
        <p:nvSpPr>
          <p:cNvPr id="34" name="Rectangle"/>
          <p:cNvSpPr>
            <a:spLocks/>
          </p:cNvSpPr>
          <p:nvPr/>
        </p:nvSpPr>
        <p:spPr>
          <a:xfrm rot="0">
            <a:off x="857250" y="1885950"/>
            <a:ext cx="10477499" cy="2000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ts val="1575"/>
              </a:lnSpc>
              <a:spcBef>
                <a:spcPts val="0"/>
              </a:spcBef>
              <a:spcAft>
                <a:spcPts val="0"/>
              </a:spcAft>
              <a:buNone/>
            </a:pPr>
            <a:r>
              <a:rPr lang="en-US" altLang="zh-CN" sz="1050" b="0" i="0" u="none" strike="noStrike" kern="1200" cap="none" spc="0" baseline="0">
                <a:solidFill>
                  <a:srgbClr val="64748B"/>
                </a:solidFill>
                <a:latin typeface="Inter" pitchFamily="0" charset="0"/>
                <a:ea typeface="宋体" pitchFamily="0" charset="0"/>
                <a:cs typeface="Calibri" pitchFamily="0" charset="0"/>
              </a:rPr>
              <a:t>Asian School of Business — Department of Commerce</a:t>
            </a:r>
            <a:endParaRPr lang="zh-CN" altLang="en-US" sz="1050" b="0" i="0" u="none" strike="noStrike" kern="1200" cap="none" spc="0" baseline="0">
              <a:solidFill>
                <a:srgbClr val="64748B"/>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308848157"/>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39"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40"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41" name="Image" descr="image.png"/>
          <p:cNvPicPr>
            <a:picLocks noChangeAspect="1"/>
          </p:cNvPicPr>
          <p:nvPr/>
        </p:nvPicPr>
        <p:blipFill>
          <a:blip r:embed="rId3" cstate="print"/>
          <a:stretch>
            <a:fillRect/>
          </a:stretch>
        </p:blipFill>
        <p:spPr>
          <a:xfrm rot="0">
            <a:off x="542925" y="1181100"/>
            <a:ext cx="11106150" cy="4040236"/>
          </a:xfrm>
          <a:prstGeom prst="rect"/>
          <a:noFill/>
          <a:ln w="12700" cmpd="sng" cap="flat">
            <a:noFill/>
            <a:prstDash val="solid"/>
            <a:miter/>
          </a:ln>
        </p:spPr>
      </p:pic>
      <p:sp>
        <p:nvSpPr>
          <p:cNvPr id="42"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Student Declaration</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43" name="Rectangle"/>
          <p:cNvSpPr>
            <a:spLocks/>
          </p:cNvSpPr>
          <p:nvPr/>
        </p:nvSpPr>
        <p:spPr>
          <a:xfrm rot="0">
            <a:off x="542925" y="933450"/>
            <a:ext cx="11106150" cy="19050"/>
          </a:xfrm>
          <a:prstGeom prst="rect"/>
          <a:solidFill>
            <a:srgbClr val="E2E8F0"/>
          </a:solidFill>
          <a:ln w="9525" cmpd="sng" cap="flat">
            <a:noFill/>
            <a:prstDash val="solid"/>
            <a:round/>
          </a:ln>
        </p:spPr>
      </p:sp>
      <p:sp>
        <p:nvSpPr>
          <p:cNvPr id="45" name="Rectangle"/>
          <p:cNvSpPr>
            <a:spLocks/>
          </p:cNvSpPr>
          <p:nvPr/>
        </p:nvSpPr>
        <p:spPr>
          <a:xfrm rot="0">
            <a:off x="10991850" y="6515100"/>
            <a:ext cx="6572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3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46" name="Rectangle"/>
          <p:cNvSpPr>
            <a:spLocks/>
          </p:cNvSpPr>
          <p:nvPr/>
        </p:nvSpPr>
        <p:spPr>
          <a:xfrm rot="0">
            <a:off x="857250" y="1495425"/>
            <a:ext cx="10477499" cy="58281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295"/>
              </a:lnSpc>
              <a:spcBef>
                <a:spcPts val="0"/>
              </a:spcBef>
              <a:spcAft>
                <a:spcPts val="0"/>
              </a:spcAft>
              <a:buNone/>
            </a:pPr>
            <a:r>
              <a:rPr lang="en-US" altLang="zh-CN" sz="1275" b="0" i="0" u="none" strike="noStrike" kern="1200" cap="none" spc="0" baseline="0">
                <a:solidFill>
                  <a:srgbClr val="334155"/>
                </a:solidFill>
                <a:latin typeface="Inter" pitchFamily="0" charset="0"/>
                <a:ea typeface="宋体" pitchFamily="0" charset="0"/>
                <a:cs typeface="Calibri" pitchFamily="0" charset="0"/>
              </a:rPr>
              <a:t>I, Vishal Chauhan, student of B.Com at Asian School of Business, hereby declare that the project titled “ABC Retail Business Performance Analysis using Tableau” is original work completed by me as part of my internship project.</a:t>
            </a:r>
            <a:endParaRPr lang="zh-CN" altLang="en-US" sz="1275" b="0" i="0" u="none" strike="noStrike" kern="1200" cap="none" spc="0" baseline="0">
              <a:solidFill>
                <a:srgbClr val="334155"/>
              </a:solidFill>
              <a:latin typeface="Inter" pitchFamily="0" charset="0"/>
              <a:ea typeface="宋体" pitchFamily="0" charset="0"/>
              <a:cs typeface="Calibri" pitchFamily="0" charset="0"/>
            </a:endParaRPr>
          </a:p>
        </p:txBody>
      </p:sp>
      <p:sp>
        <p:nvSpPr>
          <p:cNvPr id="47" name="Rectangle"/>
          <p:cNvSpPr>
            <a:spLocks/>
          </p:cNvSpPr>
          <p:nvPr/>
        </p:nvSpPr>
        <p:spPr>
          <a:xfrm rot="0">
            <a:off x="857250" y="2306835"/>
            <a:ext cx="10477499" cy="54864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16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This project was undertaken as part of my internship to gain practical experience in business analytics and data visualization. The analysis and visualizations were created using Microsoft Excel and Tableau based on the supplied ABC Retail dataset.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8" name="Rectangle"/>
          <p:cNvSpPr>
            <a:spLocks/>
          </p:cNvSpPr>
          <p:nvPr/>
        </p:nvSpPr>
        <p:spPr>
          <a:xfrm rot="0">
            <a:off x="857250" y="3358306"/>
            <a:ext cx="10477499" cy="27432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16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I confirm that this project report has not been previously submitted to any other college, university, or institution for any academic degree or recognition.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 name="Rectangle"/>
          <p:cNvSpPr>
            <a:spLocks/>
          </p:cNvSpPr>
          <p:nvPr/>
        </p:nvSpPr>
        <p:spPr>
          <a:xfrm rot="0">
            <a:off x="9429750" y="4478387"/>
            <a:ext cx="1905000" cy="228600"/>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Vishal Chauhan</a:t>
            </a:r>
            <a:endParaRPr lang="zh-CN" altLang="en-US" sz="1200" b="1" i="0" u="none" strike="noStrike" kern="1200" cap="none" spc="0" baseline="0">
              <a:solidFill>
                <a:srgbClr val="334155"/>
              </a:solidFill>
              <a:latin typeface="Inter" pitchFamily="0" charset="0"/>
              <a:ea typeface="宋体" pitchFamily="0" charset="0"/>
              <a:cs typeface="Calibri" pitchFamily="0" charset="0"/>
            </a:endParaRPr>
          </a:p>
        </p:txBody>
      </p:sp>
      <p:sp>
        <p:nvSpPr>
          <p:cNvPr id="52" name="Rectangle"/>
          <p:cNvSpPr>
            <a:spLocks/>
          </p:cNvSpPr>
          <p:nvPr/>
        </p:nvSpPr>
        <p:spPr>
          <a:xfrm rot="0">
            <a:off x="9429750" y="4706987"/>
            <a:ext cx="1905000" cy="200024"/>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ts val="1575"/>
              </a:lnSpc>
              <a:spcBef>
                <a:spcPts val="0"/>
              </a:spcBef>
              <a:spcAft>
                <a:spcPts val="0"/>
              </a:spcAft>
              <a:buNone/>
            </a:pPr>
            <a:r>
              <a:rPr lang="en-US" altLang="zh-CN" sz="1050" b="0" i="0" u="none" strike="noStrike" kern="1200" cap="none" spc="0" baseline="0">
                <a:solidFill>
                  <a:srgbClr val="64748B"/>
                </a:solidFill>
                <a:latin typeface="Inter" pitchFamily="0" charset="0"/>
                <a:ea typeface="宋体" pitchFamily="0" charset="0"/>
                <a:cs typeface="Calibri" pitchFamily="0" charset="0"/>
              </a:rPr>
              <a:t>B.Com Student</a:t>
            </a:r>
            <a:endParaRPr lang="zh-CN" altLang="en-US" sz="1050" b="0" i="0" u="none" strike="noStrike" kern="1200" cap="none" spc="0" baseline="0">
              <a:solidFill>
                <a:srgbClr val="64748B"/>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2034789630"/>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53"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54"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55" name="Image" descr="image.png"/>
          <p:cNvPicPr>
            <a:picLocks noChangeAspect="1"/>
          </p:cNvPicPr>
          <p:nvPr/>
        </p:nvPicPr>
        <p:blipFill>
          <a:blip r:embed="rId3" cstate="print"/>
          <a:stretch>
            <a:fillRect/>
          </a:stretch>
        </p:blipFill>
        <p:spPr>
          <a:xfrm rot="0">
            <a:off x="542925" y="1181100"/>
            <a:ext cx="11106150" cy="3852862"/>
          </a:xfrm>
          <a:prstGeom prst="rect"/>
          <a:noFill/>
          <a:ln w="12700" cmpd="sng" cap="flat">
            <a:noFill/>
            <a:prstDash val="solid"/>
            <a:miter/>
          </a:ln>
        </p:spPr>
      </p:pic>
      <p:sp>
        <p:nvSpPr>
          <p:cNvPr id="56"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Acknowledgement</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57" name="Rectangle"/>
          <p:cNvSpPr>
            <a:spLocks/>
          </p:cNvSpPr>
          <p:nvPr/>
        </p:nvSpPr>
        <p:spPr>
          <a:xfrm rot="0">
            <a:off x="542925" y="933450"/>
            <a:ext cx="11106150" cy="19050"/>
          </a:xfrm>
          <a:prstGeom prst="rect"/>
          <a:solidFill>
            <a:srgbClr val="E2E8F0"/>
          </a:solidFill>
          <a:ln w="9525" cmpd="sng" cap="flat">
            <a:noFill/>
            <a:prstDash val="solid"/>
            <a:round/>
          </a:ln>
        </p:spPr>
      </p:sp>
      <p:sp>
        <p:nvSpPr>
          <p:cNvPr id="59" name="Rectangle"/>
          <p:cNvSpPr>
            <a:spLocks/>
          </p:cNvSpPr>
          <p:nvPr/>
        </p:nvSpPr>
        <p:spPr>
          <a:xfrm rot="0">
            <a:off x="10982325" y="6515100"/>
            <a:ext cx="666750"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4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60" name="Rectangle"/>
          <p:cNvSpPr>
            <a:spLocks/>
          </p:cNvSpPr>
          <p:nvPr/>
        </p:nvSpPr>
        <p:spPr>
          <a:xfrm rot="0">
            <a:off x="819150" y="1457325"/>
            <a:ext cx="10553700" cy="258953"/>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039"/>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I would like to thank my faculty guide and the Asian School of Business for their guidance and support during this internship project.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61" name="Rectangle"/>
          <p:cNvSpPr>
            <a:spLocks/>
          </p:cNvSpPr>
          <p:nvPr/>
        </p:nvSpPr>
        <p:spPr>
          <a:xfrm rot="0">
            <a:off x="819150" y="2146696"/>
            <a:ext cx="10553700" cy="258953"/>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039"/>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I am grateful for the learning opportunity and the resources that helped me gain practical experience in Excel, Tableau and data visualization.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62" name="Rectangle"/>
          <p:cNvSpPr>
            <a:spLocks/>
          </p:cNvSpPr>
          <p:nvPr/>
        </p:nvSpPr>
        <p:spPr>
          <a:xfrm rot="0">
            <a:off x="819150" y="2836068"/>
            <a:ext cx="10553700" cy="258952"/>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039"/>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Working on this project helped me understand data checking, calculated fields, dashboard creation and basic business analysis.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63" name="Rectangle"/>
          <p:cNvSpPr>
            <a:spLocks/>
          </p:cNvSpPr>
          <p:nvPr/>
        </p:nvSpPr>
        <p:spPr>
          <a:xfrm rot="0">
            <a:off x="819150" y="3525440"/>
            <a:ext cx="10553700" cy="258952"/>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2039"/>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I am thankful to everyone who supported me during the completion of the project.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64" name="Rectangle"/>
          <p:cNvSpPr>
            <a:spLocks/>
          </p:cNvSpPr>
          <p:nvPr/>
        </p:nvSpPr>
        <p:spPr>
          <a:xfrm rot="0">
            <a:off x="819150" y="4329112"/>
            <a:ext cx="10553700" cy="228600"/>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ts val="1800"/>
              </a:lnSpc>
              <a:spcBef>
                <a:spcPts val="0"/>
              </a:spcBef>
              <a:spcAft>
                <a:spcPts val="0"/>
              </a:spcAft>
              <a:buNone/>
            </a:pPr>
            <a:r>
              <a:rPr lang="en-US" altLang="zh-CN" sz="1200" b="0" i="0" u="none" strike="noStrike" kern="1200" cap="none" spc="0" baseline="0">
                <a:solidFill>
                  <a:srgbClr val="1E3A8A"/>
                </a:solidFill>
                <a:latin typeface="Inter SemiBold" pitchFamily="0" charset="0"/>
                <a:ea typeface="宋体" pitchFamily="0" charset="0"/>
                <a:cs typeface="Calibri" pitchFamily="0" charset="0"/>
              </a:rPr>
              <a:t>Vishal Chauhan</a:t>
            </a:r>
            <a:endParaRPr lang="zh-CN" altLang="en-US" sz="1200" b="0" i="0" u="none" strike="noStrike" kern="1200" cap="none" spc="0" baseline="0">
              <a:solidFill>
                <a:srgbClr val="1E3A8A"/>
              </a:solidFill>
              <a:latin typeface="Inter SemiBold" pitchFamily="0" charset="0"/>
              <a:ea typeface="宋体" pitchFamily="0" charset="0"/>
              <a:cs typeface="Calibri" pitchFamily="0" charset="0"/>
            </a:endParaRPr>
          </a:p>
        </p:txBody>
      </p:sp>
      <p:sp>
        <p:nvSpPr>
          <p:cNvPr id="65" name="Rectangle"/>
          <p:cNvSpPr>
            <a:spLocks/>
          </p:cNvSpPr>
          <p:nvPr/>
        </p:nvSpPr>
        <p:spPr>
          <a:xfrm rot="0">
            <a:off x="819150" y="4557712"/>
            <a:ext cx="10553700" cy="200025"/>
          </a:xfrm>
          <a:prstGeom prst="rect"/>
          <a:noFill/>
          <a:ln w="12700" cmpd="sng" cap="flat">
            <a:noFill/>
            <a:prstDash val="solid"/>
            <a:miter/>
          </a:ln>
        </p:spPr>
        <p:txBody>
          <a:bodyPr vert="horz" wrap="square" lIns="0" tIns="0" rIns="0" bIns="0" anchor="t" anchorCtr="0">
            <a:prstTxWarp prst="textNoShape"/>
            <a:spAutoFit/>
          </a:bodyPr>
          <a:lstStyle/>
          <a:p>
            <a:pPr marL="0" indent="0" algn="r">
              <a:lnSpc>
                <a:spcPts val="1575"/>
              </a:lnSpc>
              <a:spcBef>
                <a:spcPts val="0"/>
              </a:spcBef>
              <a:spcAft>
                <a:spcPts val="0"/>
              </a:spcAft>
              <a:buNone/>
            </a:pPr>
            <a:r>
              <a:rPr lang="en-US" altLang="zh-CN" sz="1050" b="0" i="0" u="none" strike="noStrike" kern="1200" cap="none" spc="0" baseline="0">
                <a:solidFill>
                  <a:srgbClr val="64748B"/>
                </a:solidFill>
                <a:latin typeface="Inter" pitchFamily="0" charset="0"/>
                <a:ea typeface="宋体" pitchFamily="0" charset="0"/>
                <a:cs typeface="Calibri" pitchFamily="0" charset="0"/>
              </a:rPr>
              <a:t>B.Com, Asian School of Business</a:t>
            </a:r>
            <a:endParaRPr lang="zh-CN" altLang="en-US" sz="1050" b="0" i="0" u="none" strike="noStrike" kern="1200" cap="none" spc="0" baseline="0">
              <a:solidFill>
                <a:srgbClr val="64748B"/>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937763456"/>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66"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67"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68" name="Image" descr="image.png"/>
          <p:cNvPicPr>
            <a:picLocks noChangeAspect="1"/>
          </p:cNvPicPr>
          <p:nvPr/>
        </p:nvPicPr>
        <p:blipFill>
          <a:blip r:embed="rId3" cstate="print"/>
          <a:stretch>
            <a:fillRect/>
          </a:stretch>
        </p:blipFill>
        <p:spPr>
          <a:xfrm rot="0">
            <a:off x="542925" y="1181100"/>
            <a:ext cx="5419725" cy="2905125"/>
          </a:xfrm>
          <a:prstGeom prst="rect"/>
          <a:noFill/>
          <a:ln w="12700" cmpd="sng" cap="flat">
            <a:noFill/>
            <a:prstDash val="solid"/>
            <a:miter/>
          </a:ln>
        </p:spPr>
      </p:pic>
      <p:pic>
        <p:nvPicPr>
          <p:cNvPr id="69" name="Image" descr="image.png"/>
          <p:cNvPicPr>
            <a:picLocks noChangeAspect="1"/>
          </p:cNvPicPr>
          <p:nvPr/>
        </p:nvPicPr>
        <p:blipFill>
          <a:blip r:embed="rId4" cstate="print"/>
          <a:stretch>
            <a:fillRect/>
          </a:stretch>
        </p:blipFill>
        <p:spPr>
          <a:xfrm rot="0">
            <a:off x="6229350" y="1181100"/>
            <a:ext cx="5419724" cy="2905125"/>
          </a:xfrm>
          <a:prstGeom prst="rect"/>
          <a:noFill/>
          <a:ln w="12700" cmpd="sng" cap="flat">
            <a:noFill/>
            <a:prstDash val="solid"/>
            <a:miter/>
          </a:ln>
        </p:spPr>
      </p:pic>
      <p:pic>
        <p:nvPicPr>
          <p:cNvPr id="70" name="Image" descr="image.png"/>
          <p:cNvPicPr>
            <a:picLocks noChangeAspect="1"/>
          </p:cNvPicPr>
          <p:nvPr/>
        </p:nvPicPr>
        <p:blipFill>
          <a:blip r:embed="rId5" cstate="print"/>
          <a:stretch>
            <a:fillRect/>
          </a:stretch>
        </p:blipFill>
        <p:spPr>
          <a:xfrm rot="0">
            <a:off x="542925" y="4505325"/>
            <a:ext cx="5419725" cy="2457449"/>
          </a:xfrm>
          <a:prstGeom prst="rect"/>
          <a:noFill/>
          <a:ln w="12700" cmpd="sng" cap="flat">
            <a:noFill/>
            <a:prstDash val="solid"/>
            <a:miter/>
          </a:ln>
        </p:spPr>
      </p:pic>
      <p:pic>
        <p:nvPicPr>
          <p:cNvPr id="71" name="Image" descr="image.png"/>
          <p:cNvPicPr>
            <a:picLocks noChangeAspect="1"/>
          </p:cNvPicPr>
          <p:nvPr/>
        </p:nvPicPr>
        <p:blipFill>
          <a:blip r:embed="rId6" cstate="print"/>
          <a:stretch>
            <a:fillRect/>
          </a:stretch>
        </p:blipFill>
        <p:spPr>
          <a:xfrm rot="0">
            <a:off x="6229350" y="4505325"/>
            <a:ext cx="5419724" cy="2457449"/>
          </a:xfrm>
          <a:prstGeom prst="rect"/>
          <a:noFill/>
          <a:ln w="12700" cmpd="sng" cap="flat">
            <a:noFill/>
            <a:prstDash val="solid"/>
            <a:miter/>
          </a:ln>
        </p:spPr>
      </p:pic>
      <p:sp>
        <p:nvSpPr>
          <p:cNvPr id="72"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Table of Contents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73" name="Rectangle"/>
          <p:cNvSpPr>
            <a:spLocks/>
          </p:cNvSpPr>
          <p:nvPr/>
        </p:nvSpPr>
        <p:spPr>
          <a:xfrm rot="0">
            <a:off x="542925" y="933450"/>
            <a:ext cx="11106150" cy="19050"/>
          </a:xfrm>
          <a:prstGeom prst="rect"/>
          <a:solidFill>
            <a:srgbClr val="E2E8F0"/>
          </a:solidFill>
          <a:ln w="9525" cmpd="sng" cap="flat">
            <a:noFill/>
            <a:prstDash val="solid"/>
            <a:round/>
          </a:ln>
        </p:spPr>
      </p:sp>
      <p:sp>
        <p:nvSpPr>
          <p:cNvPr id="75" name="Rectangle"/>
          <p:cNvSpPr>
            <a:spLocks/>
          </p:cNvSpPr>
          <p:nvPr/>
        </p:nvSpPr>
        <p:spPr>
          <a:xfrm rot="0">
            <a:off x="10991850" y="6515100"/>
            <a:ext cx="6572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5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76" name="Rectangle"/>
          <p:cNvSpPr>
            <a:spLocks/>
          </p:cNvSpPr>
          <p:nvPr/>
        </p:nvSpPr>
        <p:spPr>
          <a:xfrm rot="0">
            <a:off x="742949" y="1381124"/>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Section I: Project Foundation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77"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Section II: Methodology &amp; Tools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78" name="Rectangle"/>
          <p:cNvSpPr>
            <a:spLocks/>
          </p:cNvSpPr>
          <p:nvPr/>
        </p:nvSpPr>
        <p:spPr>
          <a:xfrm rot="0">
            <a:off x="742949" y="4705350"/>
            <a:ext cx="5019675" cy="20954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Section III: Dashboard Analysis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79" name="Rectangle"/>
          <p:cNvSpPr>
            <a:spLocks/>
          </p:cNvSpPr>
          <p:nvPr/>
        </p:nvSpPr>
        <p:spPr>
          <a:xfrm rot="0">
            <a:off x="6429375" y="4705350"/>
            <a:ext cx="5019674" cy="20954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Section IV: Project Log &amp; Summary</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80" name="Rectangle"/>
          <p:cNvSpPr>
            <a:spLocks/>
          </p:cNvSpPr>
          <p:nvPr/>
        </p:nvSpPr>
        <p:spPr>
          <a:xfrm rot="0">
            <a:off x="742949" y="1714500"/>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a:t>
            </a:r>
            <a:r>
              <a:rPr lang="en-US" altLang="zh-CN" sz="1200" b="0" i="0" u="none" strike="noStrike" kern="1200" cap="none" spc="0" baseline="0">
                <a:solidFill>
                  <a:srgbClr val="334155"/>
                </a:solidFill>
                <a:latin typeface="Inter" pitchFamily="0" charset="0"/>
                <a:ea typeface="宋体" pitchFamily="0" charset="0"/>
                <a:cs typeface="Calibri" pitchFamily="0" charset="0"/>
              </a:rPr>
              <a:t> Introduction &amp; Background</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81" name="Rectangle"/>
          <p:cNvSpPr>
            <a:spLocks/>
          </p:cNvSpPr>
          <p:nvPr/>
        </p:nvSpPr>
        <p:spPr>
          <a:xfrm rot="0">
            <a:off x="742949" y="2000249"/>
            <a:ext cx="5019675" cy="9525"/>
          </a:xfrm>
          <a:prstGeom prst="rect"/>
          <a:solidFill>
            <a:srgbClr val="E2E8F0"/>
          </a:solidFill>
          <a:ln w="9525" cmpd="sng" cap="flat">
            <a:noFill/>
            <a:prstDash val="solid"/>
            <a:round/>
          </a:ln>
        </p:spPr>
      </p:sp>
      <p:sp>
        <p:nvSpPr>
          <p:cNvPr id="82" name="Rectangle"/>
          <p:cNvSpPr>
            <a:spLocks/>
          </p:cNvSpPr>
          <p:nvPr/>
        </p:nvSpPr>
        <p:spPr>
          <a:xfrm rot="0">
            <a:off x="742949" y="2162175"/>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2.</a:t>
            </a:r>
            <a:r>
              <a:rPr lang="en-US" altLang="zh-CN" sz="1200" b="0" i="0" u="none" strike="noStrike" kern="1200" cap="none" spc="0" baseline="0">
                <a:solidFill>
                  <a:srgbClr val="334155"/>
                </a:solidFill>
                <a:latin typeface="Inter" pitchFamily="0" charset="0"/>
                <a:ea typeface="宋体" pitchFamily="0" charset="0"/>
                <a:cs typeface="Calibri" pitchFamily="0" charset="0"/>
              </a:rPr>
              <a:t> ABC Retail Organization Overview</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83" name="Rectangle"/>
          <p:cNvSpPr>
            <a:spLocks/>
          </p:cNvSpPr>
          <p:nvPr/>
        </p:nvSpPr>
        <p:spPr>
          <a:xfrm rot="0">
            <a:off x="742949" y="2447924"/>
            <a:ext cx="5019675" cy="9524"/>
          </a:xfrm>
          <a:prstGeom prst="rect"/>
          <a:solidFill>
            <a:srgbClr val="E2E8F0"/>
          </a:solidFill>
          <a:ln w="9525" cmpd="sng" cap="flat">
            <a:noFill/>
            <a:prstDash val="solid"/>
            <a:round/>
          </a:ln>
        </p:spPr>
      </p:sp>
      <p:sp>
        <p:nvSpPr>
          <p:cNvPr id="84" name="Rectangle"/>
          <p:cNvSpPr>
            <a:spLocks/>
          </p:cNvSpPr>
          <p:nvPr/>
        </p:nvSpPr>
        <p:spPr>
          <a:xfrm rot="0">
            <a:off x="742949" y="2609850"/>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3.</a:t>
            </a:r>
            <a:r>
              <a:rPr lang="en-US" altLang="zh-CN" sz="1200" b="0" i="0" u="none" strike="noStrike" kern="1200" cap="none" spc="0" baseline="0">
                <a:solidFill>
                  <a:srgbClr val="334155"/>
                </a:solidFill>
                <a:latin typeface="Inter" pitchFamily="0" charset="0"/>
                <a:ea typeface="宋体" pitchFamily="0" charset="0"/>
                <a:cs typeface="Calibri" pitchFamily="0" charset="0"/>
              </a:rPr>
              <a:t> Project Objectives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85" name="Rectangle"/>
          <p:cNvSpPr>
            <a:spLocks/>
          </p:cNvSpPr>
          <p:nvPr/>
        </p:nvSpPr>
        <p:spPr>
          <a:xfrm rot="0">
            <a:off x="742949" y="2895600"/>
            <a:ext cx="5019675" cy="9524"/>
          </a:xfrm>
          <a:prstGeom prst="rect"/>
          <a:solidFill>
            <a:srgbClr val="E2E8F0"/>
          </a:solidFill>
          <a:ln w="9525" cmpd="sng" cap="flat">
            <a:noFill/>
            <a:prstDash val="solid"/>
            <a:round/>
          </a:ln>
        </p:spPr>
      </p:sp>
      <p:sp>
        <p:nvSpPr>
          <p:cNvPr id="86" name="Rectangle"/>
          <p:cNvSpPr>
            <a:spLocks/>
          </p:cNvSpPr>
          <p:nvPr/>
        </p:nvSpPr>
        <p:spPr>
          <a:xfrm rot="0">
            <a:off x="742949" y="3057525"/>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4.</a:t>
            </a:r>
            <a:r>
              <a:rPr lang="en-US" altLang="zh-CN" sz="1200" b="0" i="0" u="none" strike="noStrike" kern="1200" cap="none" spc="0" baseline="0">
                <a:solidFill>
                  <a:srgbClr val="334155"/>
                </a:solidFill>
                <a:latin typeface="Inter" pitchFamily="0" charset="0"/>
                <a:ea typeface="宋体" pitchFamily="0" charset="0"/>
                <a:cs typeface="Calibri" pitchFamily="0" charset="0"/>
              </a:rPr>
              <a:t> Learning Outcomes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87" name="Rectangle"/>
          <p:cNvSpPr>
            <a:spLocks/>
          </p:cNvSpPr>
          <p:nvPr/>
        </p:nvSpPr>
        <p:spPr>
          <a:xfrm rot="0">
            <a:off x="742949" y="3343275"/>
            <a:ext cx="5019675" cy="9525"/>
          </a:xfrm>
          <a:prstGeom prst="rect"/>
          <a:solidFill>
            <a:srgbClr val="E2E8F0"/>
          </a:solidFill>
          <a:ln w="9525" cmpd="sng" cap="flat">
            <a:noFill/>
            <a:prstDash val="solid"/>
            <a:round/>
          </a:ln>
        </p:spPr>
      </p:sp>
      <p:sp>
        <p:nvSpPr>
          <p:cNvPr id="88" name="Rectangle"/>
          <p:cNvSpPr>
            <a:spLocks/>
          </p:cNvSpPr>
          <p:nvPr/>
        </p:nvSpPr>
        <p:spPr>
          <a:xfrm rot="0">
            <a:off x="742949" y="3505199"/>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5.</a:t>
            </a:r>
            <a:r>
              <a:rPr lang="en-US" altLang="zh-CN" sz="1200" b="0" i="0" u="none" strike="noStrike" kern="1200" cap="none" spc="0" baseline="0">
                <a:solidFill>
                  <a:srgbClr val="334155"/>
                </a:solidFill>
                <a:latin typeface="Inter" pitchFamily="0" charset="0"/>
                <a:ea typeface="宋体" pitchFamily="0" charset="0"/>
                <a:cs typeface="Calibri" pitchFamily="0" charset="0"/>
              </a:rPr>
              <a:t> Dataset Structure &amp; Preparation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89" name="Rectangle"/>
          <p:cNvSpPr>
            <a:spLocks/>
          </p:cNvSpPr>
          <p:nvPr/>
        </p:nvSpPr>
        <p:spPr>
          <a:xfrm rot="0">
            <a:off x="6429375" y="1714500"/>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6.</a:t>
            </a:r>
            <a:r>
              <a:rPr lang="en-US" altLang="zh-CN" sz="1200" b="0" i="0" u="none" strike="noStrike" kern="1200" cap="none" spc="0" baseline="0">
                <a:solidFill>
                  <a:srgbClr val="334155"/>
                </a:solidFill>
                <a:latin typeface="Inter" pitchFamily="0" charset="0"/>
                <a:ea typeface="宋体" pitchFamily="0" charset="0"/>
                <a:cs typeface="Calibri" pitchFamily="0" charset="0"/>
              </a:rPr>
              <a:t> Project Methodology &amp; Process Flow</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90" name="Rectangle"/>
          <p:cNvSpPr>
            <a:spLocks/>
          </p:cNvSpPr>
          <p:nvPr/>
        </p:nvSpPr>
        <p:spPr>
          <a:xfrm rot="0">
            <a:off x="6429375" y="2000249"/>
            <a:ext cx="5019674" cy="9525"/>
          </a:xfrm>
          <a:prstGeom prst="rect"/>
          <a:solidFill>
            <a:srgbClr val="E2E8F0"/>
          </a:solidFill>
          <a:ln w="9525" cmpd="sng" cap="flat">
            <a:noFill/>
            <a:prstDash val="solid"/>
            <a:round/>
          </a:ln>
        </p:spPr>
      </p:sp>
      <p:sp>
        <p:nvSpPr>
          <p:cNvPr id="91" name="Rectangle"/>
          <p:cNvSpPr>
            <a:spLocks/>
          </p:cNvSpPr>
          <p:nvPr/>
        </p:nvSpPr>
        <p:spPr>
          <a:xfrm rot="0">
            <a:off x="6429375" y="2162175"/>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7.</a:t>
            </a:r>
            <a:r>
              <a:rPr lang="en-US" altLang="zh-CN" sz="1200" b="0" i="0" u="none" strike="noStrike" kern="1200" cap="none" spc="0" baseline="0">
                <a:solidFill>
                  <a:srgbClr val="334155"/>
                </a:solidFill>
                <a:latin typeface="Inter" pitchFamily="0" charset="0"/>
                <a:ea typeface="宋体" pitchFamily="0" charset="0"/>
                <a:cs typeface="Calibri" pitchFamily="0" charset="0"/>
              </a:rPr>
              <a:t> Tools Used (Excel, Tableau, PPT)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92" name="Rectangle"/>
          <p:cNvSpPr>
            <a:spLocks/>
          </p:cNvSpPr>
          <p:nvPr/>
        </p:nvSpPr>
        <p:spPr>
          <a:xfrm rot="0">
            <a:off x="6429375" y="2447924"/>
            <a:ext cx="5019674" cy="9524"/>
          </a:xfrm>
          <a:prstGeom prst="rect"/>
          <a:solidFill>
            <a:srgbClr val="E2E8F0"/>
          </a:solidFill>
          <a:ln w="9525" cmpd="sng" cap="flat">
            <a:noFill/>
            <a:prstDash val="solid"/>
            <a:round/>
          </a:ln>
        </p:spPr>
      </p:sp>
      <p:sp>
        <p:nvSpPr>
          <p:cNvPr id="93" name="Rectangle"/>
          <p:cNvSpPr>
            <a:spLocks/>
          </p:cNvSpPr>
          <p:nvPr/>
        </p:nvSpPr>
        <p:spPr>
          <a:xfrm rot="0">
            <a:off x="6429375" y="2609850"/>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8.</a:t>
            </a:r>
            <a:r>
              <a:rPr lang="en-US" altLang="zh-CN" sz="1200" b="0" i="0" u="none" strike="noStrike" kern="1200" cap="none" spc="0" baseline="0">
                <a:solidFill>
                  <a:srgbClr val="334155"/>
                </a:solidFill>
                <a:latin typeface="Inter" pitchFamily="0" charset="0"/>
                <a:ea typeface="宋体" pitchFamily="0" charset="0"/>
                <a:cs typeface="Calibri" pitchFamily="0" charset="0"/>
              </a:rPr>
              <a:t> Calculated Fields &amp; Key Metrics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94" name="Rectangle"/>
          <p:cNvSpPr>
            <a:spLocks/>
          </p:cNvSpPr>
          <p:nvPr/>
        </p:nvSpPr>
        <p:spPr>
          <a:xfrm rot="0">
            <a:off x="6429375" y="2895600"/>
            <a:ext cx="5019674" cy="9524"/>
          </a:xfrm>
          <a:prstGeom prst="rect"/>
          <a:solidFill>
            <a:srgbClr val="E2E8F0"/>
          </a:solidFill>
          <a:ln w="9525" cmpd="sng" cap="flat">
            <a:noFill/>
            <a:prstDash val="solid"/>
            <a:round/>
          </a:ln>
        </p:spPr>
      </p:sp>
      <p:sp>
        <p:nvSpPr>
          <p:cNvPr id="95" name="Rectangle"/>
          <p:cNvSpPr>
            <a:spLocks/>
          </p:cNvSpPr>
          <p:nvPr/>
        </p:nvSpPr>
        <p:spPr>
          <a:xfrm rot="0">
            <a:off x="6429375" y="3057525"/>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9.</a:t>
            </a:r>
            <a:r>
              <a:rPr lang="en-US" altLang="zh-CN" sz="1200" b="0" i="0" u="none" strike="noStrike" kern="1200" cap="none" spc="0" baseline="0">
                <a:solidFill>
                  <a:srgbClr val="334155"/>
                </a:solidFill>
                <a:latin typeface="Inter" pitchFamily="0" charset="0"/>
                <a:ea typeface="宋体" pitchFamily="0" charset="0"/>
                <a:cs typeface="Calibri" pitchFamily="0" charset="0"/>
              </a:rPr>
              <a:t> Tableau Worksheets &amp; Workspace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96" name="Rectangle"/>
          <p:cNvSpPr>
            <a:spLocks/>
          </p:cNvSpPr>
          <p:nvPr/>
        </p:nvSpPr>
        <p:spPr>
          <a:xfrm rot="0">
            <a:off x="6429375" y="3343275"/>
            <a:ext cx="5019674" cy="9525"/>
          </a:xfrm>
          <a:prstGeom prst="rect"/>
          <a:solidFill>
            <a:srgbClr val="E2E8F0"/>
          </a:solidFill>
          <a:ln w="9525" cmpd="sng" cap="flat">
            <a:noFill/>
            <a:prstDash val="solid"/>
            <a:round/>
          </a:ln>
        </p:spPr>
      </p:sp>
      <p:sp>
        <p:nvSpPr>
          <p:cNvPr id="97" name="Rectangle"/>
          <p:cNvSpPr>
            <a:spLocks/>
          </p:cNvSpPr>
          <p:nvPr/>
        </p:nvSpPr>
        <p:spPr>
          <a:xfrm rot="0">
            <a:off x="6429375" y="3505199"/>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10.</a:t>
            </a:r>
            <a:r>
              <a:rPr lang="en-US" altLang="zh-CN" sz="1200" b="0" i="0" u="none" strike="noStrike" kern="1200" cap="none" spc="0" baseline="0">
                <a:solidFill>
                  <a:srgbClr val="334155"/>
                </a:solidFill>
                <a:latin typeface="Inter" pitchFamily="0" charset="0"/>
                <a:ea typeface="宋体" pitchFamily="0" charset="0"/>
                <a:cs typeface="Calibri" pitchFamily="0" charset="0"/>
              </a:rPr>
              <a:t> Dashboard 1: Sales &amp; Customer Performance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98" name="Rectangle"/>
          <p:cNvSpPr>
            <a:spLocks/>
          </p:cNvSpPr>
          <p:nvPr/>
        </p:nvSpPr>
        <p:spPr>
          <a:xfrm rot="0">
            <a:off x="742949" y="5038725"/>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11.</a:t>
            </a:r>
            <a:r>
              <a:rPr lang="en-US" altLang="zh-CN" sz="1200" b="0" i="0" u="none" strike="noStrike" kern="1200" cap="none" spc="0" baseline="0">
                <a:solidFill>
                  <a:srgbClr val="334155"/>
                </a:solidFill>
                <a:latin typeface="Inter" pitchFamily="0" charset="0"/>
                <a:ea typeface="宋体" pitchFamily="0" charset="0"/>
                <a:cs typeface="Calibri" pitchFamily="0" charset="0"/>
              </a:rPr>
              <a:t> Dashboard 2: Customer Analytics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99" name="Rectangle"/>
          <p:cNvSpPr>
            <a:spLocks/>
          </p:cNvSpPr>
          <p:nvPr/>
        </p:nvSpPr>
        <p:spPr>
          <a:xfrm rot="0">
            <a:off x="742949" y="5324474"/>
            <a:ext cx="5019675" cy="9524"/>
          </a:xfrm>
          <a:prstGeom prst="rect"/>
          <a:solidFill>
            <a:srgbClr val="E2E8F0"/>
          </a:solidFill>
          <a:ln w="9525" cmpd="sng" cap="flat">
            <a:noFill/>
            <a:prstDash val="solid"/>
            <a:round/>
          </a:ln>
        </p:spPr>
      </p:sp>
      <p:sp>
        <p:nvSpPr>
          <p:cNvPr id="100" name="Rectangle"/>
          <p:cNvSpPr>
            <a:spLocks/>
          </p:cNvSpPr>
          <p:nvPr/>
        </p:nvSpPr>
        <p:spPr>
          <a:xfrm rot="0">
            <a:off x="742949" y="5486400"/>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12.</a:t>
            </a:r>
            <a:r>
              <a:rPr lang="en-US" altLang="zh-CN" sz="1200" b="0" i="0" u="none" strike="noStrike" kern="1200" cap="none" spc="0" baseline="0">
                <a:solidFill>
                  <a:srgbClr val="334155"/>
                </a:solidFill>
                <a:latin typeface="Inter" pitchFamily="0" charset="0"/>
                <a:ea typeface="宋体" pitchFamily="0" charset="0"/>
                <a:cs typeface="Calibri" pitchFamily="0" charset="0"/>
              </a:rPr>
              <a:t> Dashboard 3: Financial Performance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01" name="Rectangle"/>
          <p:cNvSpPr>
            <a:spLocks/>
          </p:cNvSpPr>
          <p:nvPr/>
        </p:nvSpPr>
        <p:spPr>
          <a:xfrm rot="0">
            <a:off x="742949" y="5772150"/>
            <a:ext cx="5019675" cy="9524"/>
          </a:xfrm>
          <a:prstGeom prst="rect"/>
          <a:solidFill>
            <a:srgbClr val="E2E8F0"/>
          </a:solidFill>
          <a:ln w="9525" cmpd="sng" cap="flat">
            <a:noFill/>
            <a:prstDash val="solid"/>
            <a:round/>
          </a:ln>
        </p:spPr>
      </p:sp>
      <p:sp>
        <p:nvSpPr>
          <p:cNvPr id="102" name="Rectangle"/>
          <p:cNvSpPr>
            <a:spLocks/>
          </p:cNvSpPr>
          <p:nvPr/>
        </p:nvSpPr>
        <p:spPr>
          <a:xfrm rot="0">
            <a:off x="742949" y="5934074"/>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13.</a:t>
            </a:r>
            <a:r>
              <a:rPr lang="en-US" altLang="zh-CN" sz="1200" b="0" i="0" u="none" strike="noStrike" kern="1200" cap="none" spc="0" baseline="0">
                <a:solidFill>
                  <a:srgbClr val="334155"/>
                </a:solidFill>
                <a:latin typeface="Inter" pitchFamily="0" charset="0"/>
                <a:ea typeface="宋体" pitchFamily="0" charset="0"/>
                <a:cs typeface="Calibri" pitchFamily="0" charset="0"/>
              </a:rPr>
              <a:t> Product &amp; Category Performance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03" name="Rectangle"/>
          <p:cNvSpPr>
            <a:spLocks/>
          </p:cNvSpPr>
          <p:nvPr/>
        </p:nvSpPr>
        <p:spPr>
          <a:xfrm rot="0">
            <a:off x="742949" y="6219825"/>
            <a:ext cx="5019675" cy="9524"/>
          </a:xfrm>
          <a:prstGeom prst="rect"/>
          <a:solidFill>
            <a:srgbClr val="E2E8F0"/>
          </a:solidFill>
          <a:ln w="9525" cmpd="sng" cap="flat">
            <a:noFill/>
            <a:prstDash val="solid"/>
            <a:round/>
          </a:ln>
        </p:spPr>
      </p:sp>
      <p:sp>
        <p:nvSpPr>
          <p:cNvPr id="104" name="Rectangle"/>
          <p:cNvSpPr>
            <a:spLocks/>
          </p:cNvSpPr>
          <p:nvPr/>
        </p:nvSpPr>
        <p:spPr>
          <a:xfrm rot="0">
            <a:off x="742949" y="6381750"/>
            <a:ext cx="5019675"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14.</a:t>
            </a:r>
            <a:r>
              <a:rPr lang="en-US" altLang="zh-CN" sz="1200" b="0" i="0" u="none" strike="noStrike" kern="1200" cap="none" spc="0" baseline="0">
                <a:solidFill>
                  <a:srgbClr val="334155"/>
                </a:solidFill>
                <a:latin typeface="Inter" pitchFamily="0" charset="0"/>
                <a:ea typeface="宋体" pitchFamily="0" charset="0"/>
                <a:cs typeface="Calibri" pitchFamily="0" charset="0"/>
              </a:rPr>
              <a:t> Regional Profitability Comparison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05" name="Rectangle"/>
          <p:cNvSpPr>
            <a:spLocks/>
          </p:cNvSpPr>
          <p:nvPr/>
        </p:nvSpPr>
        <p:spPr>
          <a:xfrm rot="0">
            <a:off x="6429375" y="5038725"/>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15.</a:t>
            </a:r>
            <a:r>
              <a:rPr lang="en-US" altLang="zh-CN" sz="1200" b="0" i="0" u="none" strike="noStrike" kern="1200" cap="none" spc="0" baseline="0">
                <a:solidFill>
                  <a:srgbClr val="334155"/>
                </a:solidFill>
                <a:latin typeface="Inter" pitchFamily="0" charset="0"/>
                <a:ea typeface="宋体" pitchFamily="0" charset="0"/>
                <a:cs typeface="Calibri" pitchFamily="0" charset="0"/>
              </a:rPr>
              <a:t> Student Challenges &amp; Solutions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06" name="Rectangle"/>
          <p:cNvSpPr>
            <a:spLocks/>
          </p:cNvSpPr>
          <p:nvPr/>
        </p:nvSpPr>
        <p:spPr>
          <a:xfrm rot="0">
            <a:off x="6429375" y="5324474"/>
            <a:ext cx="5019674" cy="9524"/>
          </a:xfrm>
          <a:prstGeom prst="rect"/>
          <a:solidFill>
            <a:srgbClr val="E2E8F0"/>
          </a:solidFill>
          <a:ln w="9525" cmpd="sng" cap="flat">
            <a:noFill/>
            <a:prstDash val="solid"/>
            <a:round/>
          </a:ln>
        </p:spPr>
      </p:sp>
      <p:sp>
        <p:nvSpPr>
          <p:cNvPr id="107" name="Rectangle"/>
          <p:cNvSpPr>
            <a:spLocks/>
          </p:cNvSpPr>
          <p:nvPr/>
        </p:nvSpPr>
        <p:spPr>
          <a:xfrm rot="0">
            <a:off x="6429375" y="5486400"/>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16.</a:t>
            </a:r>
            <a:r>
              <a:rPr lang="en-US" altLang="zh-CN" sz="1200" b="0" i="0" u="none" strike="noStrike" kern="1200" cap="none" spc="0" baseline="0">
                <a:solidFill>
                  <a:srgbClr val="334155"/>
                </a:solidFill>
                <a:latin typeface="Inter" pitchFamily="0" charset="0"/>
                <a:ea typeface="宋体" pitchFamily="0" charset="0"/>
                <a:cs typeface="Calibri" pitchFamily="0" charset="0"/>
              </a:rPr>
              <a:t> 12-Day Work Log &amp; Daily Tasks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08" name="Rectangle"/>
          <p:cNvSpPr>
            <a:spLocks/>
          </p:cNvSpPr>
          <p:nvPr/>
        </p:nvSpPr>
        <p:spPr>
          <a:xfrm rot="0">
            <a:off x="6429375" y="5772150"/>
            <a:ext cx="5019674" cy="9524"/>
          </a:xfrm>
          <a:prstGeom prst="rect"/>
          <a:solidFill>
            <a:srgbClr val="E2E8F0"/>
          </a:solidFill>
          <a:ln w="9525" cmpd="sng" cap="flat">
            <a:noFill/>
            <a:prstDash val="solid"/>
            <a:round/>
          </a:ln>
        </p:spPr>
      </p:sp>
      <p:sp>
        <p:nvSpPr>
          <p:cNvPr id="109" name="Rectangle"/>
          <p:cNvSpPr>
            <a:spLocks/>
          </p:cNvSpPr>
          <p:nvPr/>
        </p:nvSpPr>
        <p:spPr>
          <a:xfrm rot="0">
            <a:off x="6429375" y="5934074"/>
            <a:ext cx="5019674"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17.</a:t>
            </a:r>
            <a:r>
              <a:rPr lang="en-US" altLang="zh-CN" sz="1200" b="0" i="0" u="none" strike="noStrike" kern="1200" cap="none" spc="0" baseline="0">
                <a:solidFill>
                  <a:srgbClr val="334155"/>
                </a:solidFill>
                <a:latin typeface="Inter" pitchFamily="0" charset="0"/>
                <a:ea typeface="宋体" pitchFamily="0" charset="0"/>
                <a:cs typeface="Calibri" pitchFamily="0" charset="0"/>
              </a:rPr>
              <a:t> Recommendations &amp; Final Conclusion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10" name="Rectangle"/>
          <p:cNvSpPr>
            <a:spLocks/>
          </p:cNvSpPr>
          <p:nvPr/>
        </p:nvSpPr>
        <p:spPr>
          <a:xfrm rot="0">
            <a:off x="742949" y="2000249"/>
            <a:ext cx="5019675" cy="9525"/>
          </a:xfrm>
          <a:prstGeom prst="rect"/>
          <a:solidFill>
            <a:srgbClr val="E2E8F0"/>
          </a:solidFill>
          <a:ln w="9525" cmpd="sng" cap="flat">
            <a:noFill/>
            <a:prstDash val="solid"/>
            <a:round/>
          </a:ln>
        </p:spPr>
      </p:sp>
      <p:sp>
        <p:nvSpPr>
          <p:cNvPr id="111" name="Rectangle"/>
          <p:cNvSpPr>
            <a:spLocks/>
          </p:cNvSpPr>
          <p:nvPr/>
        </p:nvSpPr>
        <p:spPr>
          <a:xfrm rot="0">
            <a:off x="742949" y="2447924"/>
            <a:ext cx="5019675" cy="9524"/>
          </a:xfrm>
          <a:prstGeom prst="rect"/>
          <a:solidFill>
            <a:srgbClr val="E2E8F0"/>
          </a:solidFill>
          <a:ln w="9525" cmpd="sng" cap="flat">
            <a:noFill/>
            <a:prstDash val="solid"/>
            <a:round/>
          </a:ln>
        </p:spPr>
      </p:sp>
      <p:sp>
        <p:nvSpPr>
          <p:cNvPr id="112" name="Rectangle"/>
          <p:cNvSpPr>
            <a:spLocks/>
          </p:cNvSpPr>
          <p:nvPr/>
        </p:nvSpPr>
        <p:spPr>
          <a:xfrm rot="0">
            <a:off x="742949" y="2895600"/>
            <a:ext cx="5019675" cy="9524"/>
          </a:xfrm>
          <a:prstGeom prst="rect"/>
          <a:solidFill>
            <a:srgbClr val="E2E8F0"/>
          </a:solidFill>
          <a:ln w="9525" cmpd="sng" cap="flat">
            <a:noFill/>
            <a:prstDash val="solid"/>
            <a:round/>
          </a:ln>
        </p:spPr>
      </p:sp>
      <p:sp>
        <p:nvSpPr>
          <p:cNvPr id="113" name="Rectangle"/>
          <p:cNvSpPr>
            <a:spLocks/>
          </p:cNvSpPr>
          <p:nvPr/>
        </p:nvSpPr>
        <p:spPr>
          <a:xfrm rot="0">
            <a:off x="742949" y="3343275"/>
            <a:ext cx="5019675" cy="9525"/>
          </a:xfrm>
          <a:prstGeom prst="rect"/>
          <a:solidFill>
            <a:srgbClr val="E2E8F0"/>
          </a:solidFill>
          <a:ln w="9525" cmpd="sng" cap="flat">
            <a:noFill/>
            <a:prstDash val="solid"/>
            <a:round/>
          </a:ln>
        </p:spPr>
      </p:sp>
      <p:sp>
        <p:nvSpPr>
          <p:cNvPr id="114" name="Rectangle"/>
          <p:cNvSpPr>
            <a:spLocks/>
          </p:cNvSpPr>
          <p:nvPr/>
        </p:nvSpPr>
        <p:spPr>
          <a:xfrm rot="0">
            <a:off x="6429375" y="2000249"/>
            <a:ext cx="5019674" cy="9525"/>
          </a:xfrm>
          <a:prstGeom prst="rect"/>
          <a:solidFill>
            <a:srgbClr val="E2E8F0"/>
          </a:solidFill>
          <a:ln w="9525" cmpd="sng" cap="flat">
            <a:noFill/>
            <a:prstDash val="solid"/>
            <a:round/>
          </a:ln>
        </p:spPr>
      </p:sp>
      <p:sp>
        <p:nvSpPr>
          <p:cNvPr id="115" name="Rectangle"/>
          <p:cNvSpPr>
            <a:spLocks/>
          </p:cNvSpPr>
          <p:nvPr/>
        </p:nvSpPr>
        <p:spPr>
          <a:xfrm rot="0">
            <a:off x="6429375" y="2447924"/>
            <a:ext cx="5019674" cy="9524"/>
          </a:xfrm>
          <a:prstGeom prst="rect"/>
          <a:solidFill>
            <a:srgbClr val="E2E8F0"/>
          </a:solidFill>
          <a:ln w="9525" cmpd="sng" cap="flat">
            <a:noFill/>
            <a:prstDash val="solid"/>
            <a:round/>
          </a:ln>
        </p:spPr>
      </p:sp>
      <p:sp>
        <p:nvSpPr>
          <p:cNvPr id="116" name="Rectangle"/>
          <p:cNvSpPr>
            <a:spLocks/>
          </p:cNvSpPr>
          <p:nvPr/>
        </p:nvSpPr>
        <p:spPr>
          <a:xfrm rot="0">
            <a:off x="6429375" y="2895600"/>
            <a:ext cx="5019674" cy="9524"/>
          </a:xfrm>
          <a:prstGeom prst="rect"/>
          <a:solidFill>
            <a:srgbClr val="E2E8F0"/>
          </a:solidFill>
          <a:ln w="9525" cmpd="sng" cap="flat">
            <a:noFill/>
            <a:prstDash val="solid"/>
            <a:round/>
          </a:ln>
        </p:spPr>
      </p:sp>
      <p:sp>
        <p:nvSpPr>
          <p:cNvPr id="117" name="Rectangle"/>
          <p:cNvSpPr>
            <a:spLocks/>
          </p:cNvSpPr>
          <p:nvPr/>
        </p:nvSpPr>
        <p:spPr>
          <a:xfrm rot="0">
            <a:off x="6429375" y="3343275"/>
            <a:ext cx="5019674" cy="9525"/>
          </a:xfrm>
          <a:prstGeom prst="rect"/>
          <a:solidFill>
            <a:srgbClr val="E2E8F0"/>
          </a:solidFill>
          <a:ln w="9525" cmpd="sng" cap="flat">
            <a:noFill/>
            <a:prstDash val="solid"/>
            <a:round/>
          </a:ln>
        </p:spPr>
      </p:sp>
      <p:sp>
        <p:nvSpPr>
          <p:cNvPr id="118" name="Rectangle"/>
          <p:cNvSpPr>
            <a:spLocks/>
          </p:cNvSpPr>
          <p:nvPr/>
        </p:nvSpPr>
        <p:spPr>
          <a:xfrm rot="0">
            <a:off x="742949" y="5324474"/>
            <a:ext cx="5019675" cy="9524"/>
          </a:xfrm>
          <a:prstGeom prst="rect"/>
          <a:solidFill>
            <a:srgbClr val="E2E8F0"/>
          </a:solidFill>
          <a:ln w="9525" cmpd="sng" cap="flat">
            <a:noFill/>
            <a:prstDash val="solid"/>
            <a:round/>
          </a:ln>
        </p:spPr>
      </p:sp>
      <p:sp>
        <p:nvSpPr>
          <p:cNvPr id="119" name="Rectangle"/>
          <p:cNvSpPr>
            <a:spLocks/>
          </p:cNvSpPr>
          <p:nvPr/>
        </p:nvSpPr>
        <p:spPr>
          <a:xfrm rot="0">
            <a:off x="742949" y="5772150"/>
            <a:ext cx="5019675" cy="9524"/>
          </a:xfrm>
          <a:prstGeom prst="rect"/>
          <a:solidFill>
            <a:srgbClr val="E2E8F0"/>
          </a:solidFill>
          <a:ln w="9525" cmpd="sng" cap="flat">
            <a:noFill/>
            <a:prstDash val="solid"/>
            <a:round/>
          </a:ln>
        </p:spPr>
      </p:sp>
      <p:sp>
        <p:nvSpPr>
          <p:cNvPr id="120" name="Rectangle"/>
          <p:cNvSpPr>
            <a:spLocks/>
          </p:cNvSpPr>
          <p:nvPr/>
        </p:nvSpPr>
        <p:spPr>
          <a:xfrm rot="0">
            <a:off x="742949" y="6219825"/>
            <a:ext cx="5019675" cy="9524"/>
          </a:xfrm>
          <a:prstGeom prst="rect"/>
          <a:solidFill>
            <a:srgbClr val="E2E8F0"/>
          </a:solidFill>
          <a:ln w="9525" cmpd="sng" cap="flat">
            <a:noFill/>
            <a:prstDash val="solid"/>
            <a:round/>
          </a:ln>
        </p:spPr>
      </p:sp>
      <p:sp>
        <p:nvSpPr>
          <p:cNvPr id="121" name="Rectangle"/>
          <p:cNvSpPr>
            <a:spLocks/>
          </p:cNvSpPr>
          <p:nvPr/>
        </p:nvSpPr>
        <p:spPr>
          <a:xfrm rot="0">
            <a:off x="6429375" y="5324474"/>
            <a:ext cx="5019674" cy="9524"/>
          </a:xfrm>
          <a:prstGeom prst="rect"/>
          <a:solidFill>
            <a:srgbClr val="E2E8F0"/>
          </a:solidFill>
          <a:ln w="9525" cmpd="sng" cap="flat">
            <a:noFill/>
            <a:prstDash val="solid"/>
            <a:round/>
          </a:ln>
        </p:spPr>
      </p:sp>
      <p:sp>
        <p:nvSpPr>
          <p:cNvPr id="122" name="Rectangle"/>
          <p:cNvSpPr>
            <a:spLocks/>
          </p:cNvSpPr>
          <p:nvPr/>
        </p:nvSpPr>
        <p:spPr>
          <a:xfrm rot="0">
            <a:off x="6429375" y="5772150"/>
            <a:ext cx="5019674" cy="9524"/>
          </a:xfrm>
          <a:prstGeom prst="rect"/>
          <a:solidFill>
            <a:srgbClr val="E2E8F0"/>
          </a:solidFill>
          <a:ln w="9525" cmpd="sng" cap="flat">
            <a:noFill/>
            <a:prstDash val="solid"/>
            <a:round/>
          </a:ln>
        </p:spPr>
      </p:sp>
    </p:spTree>
    <p:extLst>
      <p:ext uri="{BB962C8B-B14F-4D97-AF65-F5344CB8AC3E}">
        <p14:creationId xmlns:p14="http://schemas.microsoft.com/office/powerpoint/2010/main" val="1929908327"/>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123"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124"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125" name="Image" descr="image.png"/>
          <p:cNvPicPr>
            <a:picLocks noChangeAspect="1"/>
          </p:cNvPicPr>
          <p:nvPr/>
        </p:nvPicPr>
        <p:blipFill>
          <a:blip r:embed="rId3" cstate="print"/>
          <a:stretch>
            <a:fillRect/>
          </a:stretch>
        </p:blipFill>
        <p:spPr>
          <a:xfrm rot="0">
            <a:off x="542925" y="1181100"/>
            <a:ext cx="5419725" cy="1895475"/>
          </a:xfrm>
          <a:prstGeom prst="rect"/>
          <a:noFill/>
          <a:ln w="12700" cmpd="sng" cap="flat">
            <a:noFill/>
            <a:prstDash val="solid"/>
            <a:miter/>
          </a:ln>
        </p:spPr>
      </p:pic>
      <p:pic>
        <p:nvPicPr>
          <p:cNvPr id="126" name="Image" descr="image.png"/>
          <p:cNvPicPr>
            <a:picLocks noChangeAspect="1"/>
          </p:cNvPicPr>
          <p:nvPr/>
        </p:nvPicPr>
        <p:blipFill>
          <a:blip r:embed="rId4" cstate="print"/>
          <a:stretch>
            <a:fillRect/>
          </a:stretch>
        </p:blipFill>
        <p:spPr>
          <a:xfrm rot="0">
            <a:off x="542925" y="3228975"/>
            <a:ext cx="5419725" cy="1590675"/>
          </a:xfrm>
          <a:prstGeom prst="rect"/>
          <a:noFill/>
          <a:ln w="12700" cmpd="sng" cap="flat">
            <a:noFill/>
            <a:prstDash val="solid"/>
            <a:miter/>
          </a:ln>
        </p:spPr>
      </p:pic>
      <p:pic>
        <p:nvPicPr>
          <p:cNvPr id="127" name="Image" descr="image.png"/>
          <p:cNvPicPr>
            <a:picLocks noChangeAspect="1"/>
          </p:cNvPicPr>
          <p:nvPr/>
        </p:nvPicPr>
        <p:blipFill>
          <a:blip r:embed="rId5" cstate="print"/>
          <a:stretch>
            <a:fillRect/>
          </a:stretch>
        </p:blipFill>
        <p:spPr>
          <a:xfrm rot="0">
            <a:off x="6229350" y="1181100"/>
            <a:ext cx="5419724" cy="3790949"/>
          </a:xfrm>
          <a:prstGeom prst="rect"/>
          <a:noFill/>
          <a:ln w="12700" cmpd="sng" cap="flat">
            <a:noFill/>
            <a:prstDash val="solid"/>
            <a:miter/>
          </a:ln>
        </p:spPr>
      </p:pic>
      <p:sp>
        <p:nvSpPr>
          <p:cNvPr id="128"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Project Introduction</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129" name="Rectangle"/>
          <p:cNvSpPr>
            <a:spLocks/>
          </p:cNvSpPr>
          <p:nvPr/>
        </p:nvSpPr>
        <p:spPr>
          <a:xfrm rot="0">
            <a:off x="542925" y="933450"/>
            <a:ext cx="11106150" cy="19050"/>
          </a:xfrm>
          <a:prstGeom prst="rect"/>
          <a:solidFill>
            <a:srgbClr val="E2E8F0"/>
          </a:solidFill>
          <a:ln w="9525" cmpd="sng" cap="flat">
            <a:noFill/>
            <a:prstDash val="solid"/>
            <a:round/>
          </a:ln>
        </p:spPr>
      </p:sp>
      <p:sp>
        <p:nvSpPr>
          <p:cNvPr id="131" name="Rectangle"/>
          <p:cNvSpPr>
            <a:spLocks/>
          </p:cNvSpPr>
          <p:nvPr/>
        </p:nvSpPr>
        <p:spPr>
          <a:xfrm rot="0">
            <a:off x="10991850" y="6515100"/>
            <a:ext cx="6572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6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132" name="Rectangle"/>
          <p:cNvSpPr>
            <a:spLocks/>
          </p:cNvSpPr>
          <p:nvPr/>
        </p:nvSpPr>
        <p:spPr>
          <a:xfrm rot="0">
            <a:off x="742949" y="1381124"/>
            <a:ext cx="5019675" cy="209550"/>
          </a:xfrm>
          <a:prstGeom prst="rect"/>
          <a:noFill/>
          <a:ln w="12700" cmpd="sng" cap="flat">
            <a:noFill/>
            <a:prstDash val="solid"/>
            <a:miter/>
          </a:ln>
        </p:spPr>
        <p:txBody>
          <a:bodyPr vert="horz" wrap="square" lIns="26670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What is this Project About?</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133" name="Rectangle"/>
          <p:cNvSpPr>
            <a:spLocks/>
          </p:cNvSpPr>
          <p:nvPr/>
        </p:nvSpPr>
        <p:spPr>
          <a:xfrm rot="0">
            <a:off x="742949" y="1657350"/>
            <a:ext cx="5019675" cy="4572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This internship project focuses on analyzing transaction and customer data from the ABC Retail dataset.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34" name="Rectangle"/>
          <p:cNvSpPr>
            <a:spLocks/>
          </p:cNvSpPr>
          <p:nvPr/>
        </p:nvSpPr>
        <p:spPr>
          <a:xfrm rot="0">
            <a:off x="742949" y="2190750"/>
            <a:ext cx="5019675" cy="4572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analysis looks at revenue, cost, profit, product performance, regional performance and customer information.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35" name="Rectangle"/>
          <p:cNvSpPr>
            <a:spLocks/>
          </p:cNvSpPr>
          <p:nvPr/>
        </p:nvSpPr>
        <p:spPr>
          <a:xfrm rot="0">
            <a:off x="742949" y="3429000"/>
            <a:ext cx="5019675" cy="209550"/>
          </a:xfrm>
          <a:prstGeom prst="rect"/>
          <a:noFill/>
          <a:ln w="12700" cmpd="sng" cap="flat">
            <a:noFill/>
            <a:prstDash val="solid"/>
            <a:miter/>
          </a:ln>
        </p:spPr>
        <p:txBody>
          <a:bodyPr vert="horz" wrap="square" lIns="24765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Why Analyze Retail Data?</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136" name="Rectangle"/>
          <p:cNvSpPr>
            <a:spLocks/>
          </p:cNvSpPr>
          <p:nvPr/>
        </p:nvSpPr>
        <p:spPr>
          <a:xfrm rot="0">
            <a:off x="742949" y="3705224"/>
            <a:ext cx="5019675" cy="4572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Retail data analysis is useful for understanding sales patterns, customer status, product performance and regional differences.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37" name="Rectangle"/>
          <p:cNvSpPr>
            <a:spLocks/>
          </p:cNvSpPr>
          <p:nvPr/>
        </p:nvSpPr>
        <p:spPr>
          <a:xfrm rot="0">
            <a:off x="6429375" y="1381124"/>
            <a:ext cx="5019674" cy="209550"/>
          </a:xfrm>
          <a:prstGeom prst="rect"/>
          <a:noFill/>
          <a:ln w="12700" cmpd="sng" cap="flat">
            <a:noFill/>
            <a:prstDash val="solid"/>
            <a:miter/>
          </a:ln>
        </p:spPr>
        <p:txBody>
          <a:bodyPr vert="horz" wrap="square" lIns="26670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Why Tableau was Selected?</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pic>
        <p:nvPicPr>
          <p:cNvPr id="138" name="Image" descr="image.png"/>
          <p:cNvPicPr>
            <a:picLocks noChangeAspect="1"/>
          </p:cNvPicPr>
          <p:nvPr/>
        </p:nvPicPr>
        <p:blipFill>
          <a:blip r:embed="rId6" cstate="print"/>
          <a:stretch>
            <a:fillRect/>
          </a:stretch>
        </p:blipFill>
        <p:spPr>
          <a:xfrm rot="0">
            <a:off x="742949" y="1400174"/>
            <a:ext cx="190500" cy="171450"/>
          </a:xfrm>
          <a:prstGeom prst="rect"/>
          <a:noFill/>
          <a:ln w="12700" cmpd="sng" cap="flat">
            <a:noFill/>
            <a:prstDash val="solid"/>
            <a:miter/>
          </a:ln>
        </p:spPr>
      </p:pic>
      <p:pic>
        <p:nvPicPr>
          <p:cNvPr id="139" name="Image" descr="image.png"/>
          <p:cNvPicPr>
            <a:picLocks noChangeAspect="1"/>
          </p:cNvPicPr>
          <p:nvPr/>
        </p:nvPicPr>
        <p:blipFill>
          <a:blip r:embed="rId7" cstate="print"/>
          <a:stretch>
            <a:fillRect/>
          </a:stretch>
        </p:blipFill>
        <p:spPr>
          <a:xfrm rot="0">
            <a:off x="742949" y="3448050"/>
            <a:ext cx="171450" cy="171450"/>
          </a:xfrm>
          <a:prstGeom prst="rect"/>
          <a:noFill/>
          <a:ln w="12700" cmpd="sng" cap="flat">
            <a:noFill/>
            <a:prstDash val="solid"/>
            <a:miter/>
          </a:ln>
        </p:spPr>
      </p:pic>
      <p:pic>
        <p:nvPicPr>
          <p:cNvPr id="140" name="Image" descr="image.png"/>
          <p:cNvPicPr>
            <a:picLocks noChangeAspect="1"/>
          </p:cNvPicPr>
          <p:nvPr/>
        </p:nvPicPr>
        <p:blipFill>
          <a:blip r:embed="rId8" cstate="print"/>
          <a:stretch>
            <a:fillRect/>
          </a:stretch>
        </p:blipFill>
        <p:spPr>
          <a:xfrm rot="0">
            <a:off x="6429375" y="1400174"/>
            <a:ext cx="190500" cy="171450"/>
          </a:xfrm>
          <a:prstGeom prst="rect"/>
          <a:noFill/>
          <a:ln w="12700" cmpd="sng" cap="flat">
            <a:noFill/>
            <a:prstDash val="solid"/>
            <a:miter/>
          </a:ln>
        </p:spPr>
      </p:pic>
      <p:sp>
        <p:nvSpPr>
          <p:cNvPr id="141" name="Rectangle"/>
          <p:cNvSpPr>
            <a:spLocks/>
          </p:cNvSpPr>
          <p:nvPr/>
        </p:nvSpPr>
        <p:spPr>
          <a:xfrm rot="0">
            <a:off x="6562725"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2" name="Rectangle"/>
          <p:cNvSpPr>
            <a:spLocks/>
          </p:cNvSpPr>
          <p:nvPr/>
        </p:nvSpPr>
        <p:spPr>
          <a:xfrm rot="0">
            <a:off x="6619874" y="16573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Data Connection:</a:t>
            </a:r>
            <a:r>
              <a:rPr lang="en-US" altLang="zh-CN" sz="1200" b="0" i="0" u="none" strike="noStrike" kern="1200" cap="none" spc="0" baseline="0">
                <a:solidFill>
                  <a:srgbClr val="334155"/>
                </a:solidFill>
                <a:latin typeface="Inter" pitchFamily="0" charset="0"/>
                <a:ea typeface="宋体" pitchFamily="0" charset="0"/>
                <a:cs typeface="Calibri" pitchFamily="0" charset="0"/>
              </a:rPr>
              <a:t> Easily connects with Excel spreadsheets containing retail transactions.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3" name="Rectangle"/>
          <p:cNvSpPr>
            <a:spLocks/>
          </p:cNvSpPr>
          <p:nvPr/>
        </p:nvSpPr>
        <p:spPr>
          <a:xfrm rot="0">
            <a:off x="6562725" y="22098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4" name="Rectangle"/>
          <p:cNvSpPr>
            <a:spLocks/>
          </p:cNvSpPr>
          <p:nvPr/>
        </p:nvSpPr>
        <p:spPr>
          <a:xfrm rot="0">
            <a:off x="6619874" y="22098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Visual Exploration:</a:t>
            </a:r>
            <a:r>
              <a:rPr lang="en-US" altLang="zh-CN" sz="1200" b="0" i="0" u="none" strike="noStrike" kern="1200" cap="none" spc="0" baseline="0">
                <a:solidFill>
                  <a:srgbClr val="334155"/>
                </a:solidFill>
                <a:latin typeface="Inter" pitchFamily="0" charset="0"/>
                <a:ea typeface="宋体" pitchFamily="0" charset="0"/>
                <a:cs typeface="Calibri" pitchFamily="0" charset="0"/>
              </a:rPr>
              <a:t> Converts plain table rows into bar charts, line graphs, and summary KPIs.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5" name="Rectangle"/>
          <p:cNvSpPr>
            <a:spLocks/>
          </p:cNvSpPr>
          <p:nvPr/>
        </p:nvSpPr>
        <p:spPr>
          <a:xfrm rot="0">
            <a:off x="6562725" y="2762249"/>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6" name="Rectangle"/>
          <p:cNvSpPr>
            <a:spLocks/>
          </p:cNvSpPr>
          <p:nvPr/>
        </p:nvSpPr>
        <p:spPr>
          <a:xfrm rot="0">
            <a:off x="6619874" y="2762249"/>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Interactive Dashboards:</a:t>
            </a:r>
            <a:r>
              <a:rPr lang="en-US" altLang="zh-CN" sz="1200" b="0" i="0" u="none" strike="noStrike" kern="1200" cap="none" spc="0" baseline="0">
                <a:solidFill>
                  <a:srgbClr val="334155"/>
                </a:solidFill>
                <a:latin typeface="Inter" pitchFamily="0" charset="0"/>
                <a:ea typeface="宋体" pitchFamily="0" charset="0"/>
                <a:cs typeface="Calibri" pitchFamily="0" charset="0"/>
              </a:rPr>
              <a:t> Allows combining multiple charts into single dashboard views.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7" name="Rectangle"/>
          <p:cNvSpPr>
            <a:spLocks/>
          </p:cNvSpPr>
          <p:nvPr/>
        </p:nvSpPr>
        <p:spPr>
          <a:xfrm rot="0">
            <a:off x="6562725" y="33147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8" name="Rectangle"/>
          <p:cNvSpPr>
            <a:spLocks/>
          </p:cNvSpPr>
          <p:nvPr/>
        </p:nvSpPr>
        <p:spPr>
          <a:xfrm rot="0">
            <a:off x="6619874" y="33147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Calculated Fields:</a:t>
            </a:r>
            <a:r>
              <a:rPr lang="en-US" altLang="zh-CN" sz="1200" b="0" i="0" u="none" strike="noStrike" kern="1200" cap="none" spc="0" baseline="0">
                <a:solidFill>
                  <a:srgbClr val="334155"/>
                </a:solidFill>
                <a:latin typeface="Inter" pitchFamily="0" charset="0"/>
                <a:ea typeface="宋体" pitchFamily="0" charset="0"/>
                <a:cs typeface="Calibri" pitchFamily="0" charset="0"/>
              </a:rPr>
              <a:t> Enables custom formulas for profit margin and customer churn percentages.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49" name="Rectangle"/>
          <p:cNvSpPr>
            <a:spLocks/>
          </p:cNvSpPr>
          <p:nvPr/>
        </p:nvSpPr>
        <p:spPr>
          <a:xfrm rot="0">
            <a:off x="6562725" y="38671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50" name="Rectangle"/>
          <p:cNvSpPr>
            <a:spLocks/>
          </p:cNvSpPr>
          <p:nvPr/>
        </p:nvSpPr>
        <p:spPr>
          <a:xfrm rot="0">
            <a:off x="6619874" y="38671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Academic Utility:</a:t>
            </a:r>
            <a:r>
              <a:rPr lang="en-US" altLang="zh-CN" sz="1200" b="0" i="0" u="none" strike="noStrike" kern="1200" cap="none" spc="0" baseline="0">
                <a:solidFill>
                  <a:srgbClr val="334155"/>
                </a:solidFill>
                <a:latin typeface="Inter" pitchFamily="0" charset="0"/>
                <a:ea typeface="宋体" pitchFamily="0" charset="0"/>
                <a:cs typeface="Calibri" pitchFamily="0" charset="0"/>
              </a:rPr>
              <a:t> Provides practical exposure to modern business intelligence software used in industry.</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541691969"/>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151"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152"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153" name="Image" descr="image.png"/>
          <p:cNvPicPr>
            <a:picLocks noChangeAspect="1"/>
          </p:cNvPicPr>
          <p:nvPr/>
        </p:nvPicPr>
        <p:blipFill>
          <a:blip r:embed="rId3" cstate="print"/>
          <a:stretch>
            <a:fillRect/>
          </a:stretch>
        </p:blipFill>
        <p:spPr>
          <a:xfrm rot="0">
            <a:off x="542925" y="1181100"/>
            <a:ext cx="11106150" cy="1133474"/>
          </a:xfrm>
          <a:prstGeom prst="rect"/>
          <a:noFill/>
          <a:ln w="12700" cmpd="sng" cap="flat">
            <a:noFill/>
            <a:prstDash val="solid"/>
            <a:miter/>
          </a:ln>
        </p:spPr>
      </p:pic>
      <p:pic>
        <p:nvPicPr>
          <p:cNvPr id="154" name="Image" descr="image.png"/>
          <p:cNvPicPr>
            <a:picLocks noChangeAspect="1"/>
          </p:cNvPicPr>
          <p:nvPr/>
        </p:nvPicPr>
        <p:blipFill>
          <a:blip r:embed="rId4" cstate="print"/>
          <a:stretch>
            <a:fillRect/>
          </a:stretch>
        </p:blipFill>
        <p:spPr>
          <a:xfrm rot="0">
            <a:off x="542925" y="2505075"/>
            <a:ext cx="3575000" cy="2867024"/>
          </a:xfrm>
          <a:prstGeom prst="rect"/>
          <a:noFill/>
          <a:ln w="12700" cmpd="sng" cap="flat">
            <a:noFill/>
            <a:prstDash val="solid"/>
            <a:miter/>
          </a:ln>
        </p:spPr>
      </p:pic>
      <p:pic>
        <p:nvPicPr>
          <p:cNvPr id="155" name="Image" descr="image.png"/>
          <p:cNvPicPr>
            <a:picLocks noChangeAspect="1"/>
          </p:cNvPicPr>
          <p:nvPr/>
        </p:nvPicPr>
        <p:blipFill>
          <a:blip r:embed="rId5" cstate="print"/>
          <a:stretch>
            <a:fillRect/>
          </a:stretch>
        </p:blipFill>
        <p:spPr>
          <a:xfrm rot="0">
            <a:off x="4308425" y="2505075"/>
            <a:ext cx="3575000" cy="2867024"/>
          </a:xfrm>
          <a:prstGeom prst="rect"/>
          <a:noFill/>
          <a:ln w="12700" cmpd="sng" cap="flat">
            <a:noFill/>
            <a:prstDash val="solid"/>
            <a:miter/>
          </a:ln>
        </p:spPr>
      </p:pic>
      <p:pic>
        <p:nvPicPr>
          <p:cNvPr id="156" name="Image" descr="image.png"/>
          <p:cNvPicPr>
            <a:picLocks noChangeAspect="1"/>
          </p:cNvPicPr>
          <p:nvPr/>
        </p:nvPicPr>
        <p:blipFill>
          <a:blip r:embed="rId6" cstate="print"/>
          <a:stretch>
            <a:fillRect/>
          </a:stretch>
        </p:blipFill>
        <p:spPr>
          <a:xfrm rot="0">
            <a:off x="8073925" y="2505075"/>
            <a:ext cx="3575149" cy="2867024"/>
          </a:xfrm>
          <a:prstGeom prst="rect"/>
          <a:noFill/>
          <a:ln w="12700" cmpd="sng" cap="flat">
            <a:noFill/>
            <a:prstDash val="solid"/>
            <a:miter/>
          </a:ln>
        </p:spPr>
      </p:pic>
      <p:sp>
        <p:nvSpPr>
          <p:cNvPr id="157"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Case Organization Overview: ABC Retail</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158" name="Rectangle"/>
          <p:cNvSpPr>
            <a:spLocks/>
          </p:cNvSpPr>
          <p:nvPr/>
        </p:nvSpPr>
        <p:spPr>
          <a:xfrm rot="0">
            <a:off x="542925" y="933450"/>
            <a:ext cx="11106150" cy="19050"/>
          </a:xfrm>
          <a:prstGeom prst="rect"/>
          <a:solidFill>
            <a:srgbClr val="E2E8F0"/>
          </a:solidFill>
          <a:ln w="9525" cmpd="sng" cap="flat">
            <a:noFill/>
            <a:prstDash val="solid"/>
            <a:round/>
          </a:ln>
        </p:spPr>
      </p:sp>
      <p:sp>
        <p:nvSpPr>
          <p:cNvPr id="160" name="Rectangle"/>
          <p:cNvSpPr>
            <a:spLocks/>
          </p:cNvSpPr>
          <p:nvPr/>
        </p:nvSpPr>
        <p:spPr>
          <a:xfrm rot="0">
            <a:off x="10991850" y="6515100"/>
            <a:ext cx="6572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7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161" name="Rectangle"/>
          <p:cNvSpPr>
            <a:spLocks/>
          </p:cNvSpPr>
          <p:nvPr/>
        </p:nvSpPr>
        <p:spPr>
          <a:xfrm rot="0">
            <a:off x="742949" y="1381124"/>
            <a:ext cx="1070610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Organization Profile (Dataset Perspective)</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162" name="Rectangle"/>
          <p:cNvSpPr>
            <a:spLocks/>
          </p:cNvSpPr>
          <p:nvPr/>
        </p:nvSpPr>
        <p:spPr>
          <a:xfrm rot="0">
            <a:off x="742949" y="1657350"/>
            <a:ext cx="10706100" cy="4572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ABC Retail is the case organization represented by the supplied dataset. The available data covers customers, products, categories, regions, revenue and cost.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63" name="Rectangle"/>
          <p:cNvSpPr>
            <a:spLocks/>
          </p:cNvSpPr>
          <p:nvPr/>
        </p:nvSpPr>
        <p:spPr>
          <a:xfrm rot="0">
            <a:off x="742949" y="2705100"/>
            <a:ext cx="3174950" cy="209550"/>
          </a:xfrm>
          <a:prstGeom prst="rect"/>
          <a:noFill/>
          <a:ln w="12700" cmpd="sng" cap="flat">
            <a:noFill/>
            <a:prstDash val="solid"/>
            <a:miter/>
          </a:ln>
        </p:spPr>
        <p:txBody>
          <a:bodyPr vert="horz" wrap="square" lIns="19050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Geographical Reach</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164" name="Rectangle"/>
          <p:cNvSpPr>
            <a:spLocks/>
          </p:cNvSpPr>
          <p:nvPr/>
        </p:nvSpPr>
        <p:spPr>
          <a:xfrm rot="0">
            <a:off x="742949" y="2981325"/>
            <a:ext cx="3174950"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dataset contains four regions: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65" name="Rectangle"/>
          <p:cNvSpPr>
            <a:spLocks/>
          </p:cNvSpPr>
          <p:nvPr/>
        </p:nvSpPr>
        <p:spPr>
          <a:xfrm rot="0">
            <a:off x="4508450" y="2705100"/>
            <a:ext cx="3174950" cy="209550"/>
          </a:xfrm>
          <a:prstGeom prst="rect"/>
          <a:noFill/>
          <a:ln w="12700" cmpd="sng" cap="flat">
            <a:noFill/>
            <a:prstDash val="solid"/>
            <a:miter/>
          </a:ln>
        </p:spPr>
        <p:txBody>
          <a:bodyPr vert="horz" wrap="square" lIns="19050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Product Portfolio</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166" name="Rectangle"/>
          <p:cNvSpPr>
            <a:spLocks/>
          </p:cNvSpPr>
          <p:nvPr/>
        </p:nvSpPr>
        <p:spPr>
          <a:xfrm rot="0">
            <a:off x="4508450" y="2981325"/>
            <a:ext cx="3174950" cy="4572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dataset contains product and category information.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67" name="Rectangle"/>
          <p:cNvSpPr>
            <a:spLocks/>
          </p:cNvSpPr>
          <p:nvPr/>
        </p:nvSpPr>
        <p:spPr>
          <a:xfrm rot="0">
            <a:off x="8273949" y="2705100"/>
            <a:ext cx="3175099" cy="209550"/>
          </a:xfrm>
          <a:prstGeom prst="rect"/>
          <a:noFill/>
          <a:ln w="12700" cmpd="sng" cap="flat">
            <a:noFill/>
            <a:prstDash val="solid"/>
            <a:miter/>
          </a:ln>
        </p:spPr>
        <p:txBody>
          <a:bodyPr vert="horz" wrap="square" lIns="219075"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Customer Base</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168" name="Rectangle"/>
          <p:cNvSpPr>
            <a:spLocks/>
          </p:cNvSpPr>
          <p:nvPr/>
        </p:nvSpPr>
        <p:spPr>
          <a:xfrm rot="0">
            <a:off x="8273949" y="2981325"/>
            <a:ext cx="3175099" cy="4572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Customer information is tracked using unique Customer IDs.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pic>
        <p:nvPicPr>
          <p:cNvPr id="169" name="Image" descr="image.png"/>
          <p:cNvPicPr>
            <a:picLocks noChangeAspect="1"/>
          </p:cNvPicPr>
          <p:nvPr/>
        </p:nvPicPr>
        <p:blipFill>
          <a:blip r:embed="rId7" cstate="print"/>
          <a:stretch>
            <a:fillRect/>
          </a:stretch>
        </p:blipFill>
        <p:spPr>
          <a:xfrm rot="0">
            <a:off x="742949" y="2724150"/>
            <a:ext cx="190500" cy="171450"/>
          </a:xfrm>
          <a:prstGeom prst="rect"/>
          <a:noFill/>
          <a:ln w="12700" cmpd="sng" cap="flat">
            <a:noFill/>
            <a:prstDash val="solid"/>
            <a:miter/>
          </a:ln>
        </p:spPr>
      </p:pic>
      <p:sp>
        <p:nvSpPr>
          <p:cNvPr id="170" name="Rectangle"/>
          <p:cNvSpPr>
            <a:spLocks/>
          </p:cNvSpPr>
          <p:nvPr/>
        </p:nvSpPr>
        <p:spPr>
          <a:xfrm rot="0">
            <a:off x="876299" y="35147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71" name="Rectangle"/>
          <p:cNvSpPr>
            <a:spLocks/>
          </p:cNvSpPr>
          <p:nvPr/>
        </p:nvSpPr>
        <p:spPr>
          <a:xfrm rot="0">
            <a:off x="933450" y="3514725"/>
            <a:ext cx="2984450"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East Region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72" name="Rectangle"/>
          <p:cNvSpPr>
            <a:spLocks/>
          </p:cNvSpPr>
          <p:nvPr/>
        </p:nvSpPr>
        <p:spPr>
          <a:xfrm rot="0">
            <a:off x="876299" y="38385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73" name="Rectangle"/>
          <p:cNvSpPr>
            <a:spLocks/>
          </p:cNvSpPr>
          <p:nvPr/>
        </p:nvSpPr>
        <p:spPr>
          <a:xfrm rot="0">
            <a:off x="933450" y="3838575"/>
            <a:ext cx="2984450"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North Region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74" name="Rectangle"/>
          <p:cNvSpPr>
            <a:spLocks/>
          </p:cNvSpPr>
          <p:nvPr/>
        </p:nvSpPr>
        <p:spPr>
          <a:xfrm rot="0">
            <a:off x="876299" y="41624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75" name="Rectangle"/>
          <p:cNvSpPr>
            <a:spLocks/>
          </p:cNvSpPr>
          <p:nvPr/>
        </p:nvSpPr>
        <p:spPr>
          <a:xfrm rot="0">
            <a:off x="933450" y="4162425"/>
            <a:ext cx="2984450"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South Region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76" name="Rectangle"/>
          <p:cNvSpPr>
            <a:spLocks/>
          </p:cNvSpPr>
          <p:nvPr/>
        </p:nvSpPr>
        <p:spPr>
          <a:xfrm rot="0">
            <a:off x="876299" y="44862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77" name="Rectangle"/>
          <p:cNvSpPr>
            <a:spLocks/>
          </p:cNvSpPr>
          <p:nvPr/>
        </p:nvSpPr>
        <p:spPr>
          <a:xfrm rot="0">
            <a:off x="933450" y="4486275"/>
            <a:ext cx="2984450"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West Region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pic>
        <p:nvPicPr>
          <p:cNvPr id="178" name="Image" descr="image.png"/>
          <p:cNvPicPr>
            <a:picLocks noChangeAspect="1"/>
          </p:cNvPicPr>
          <p:nvPr/>
        </p:nvPicPr>
        <p:blipFill>
          <a:blip r:embed="rId8" cstate="print"/>
          <a:stretch>
            <a:fillRect/>
          </a:stretch>
        </p:blipFill>
        <p:spPr>
          <a:xfrm rot="0">
            <a:off x="4508450" y="2724150"/>
            <a:ext cx="190500" cy="171450"/>
          </a:xfrm>
          <a:prstGeom prst="rect"/>
          <a:noFill/>
          <a:ln w="12700" cmpd="sng" cap="flat">
            <a:noFill/>
            <a:prstDash val="solid"/>
            <a:miter/>
          </a:ln>
        </p:spPr>
      </p:pic>
      <p:sp>
        <p:nvSpPr>
          <p:cNvPr id="179" name="Rectangle"/>
          <p:cNvSpPr>
            <a:spLocks/>
          </p:cNvSpPr>
          <p:nvPr/>
        </p:nvSpPr>
        <p:spPr>
          <a:xfrm rot="0">
            <a:off x="4641800" y="35147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80" name="Rectangle"/>
          <p:cNvSpPr>
            <a:spLocks/>
          </p:cNvSpPr>
          <p:nvPr/>
        </p:nvSpPr>
        <p:spPr>
          <a:xfrm rot="0">
            <a:off x="4698950" y="3514725"/>
            <a:ext cx="2984450"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Products include Laptops, Smartphones and Monitors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81" name="Rectangle"/>
          <p:cNvSpPr>
            <a:spLocks/>
          </p:cNvSpPr>
          <p:nvPr/>
        </p:nvSpPr>
        <p:spPr>
          <a:xfrm rot="0">
            <a:off x="4641800" y="40671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82" name="Rectangle"/>
          <p:cNvSpPr>
            <a:spLocks/>
          </p:cNvSpPr>
          <p:nvPr/>
        </p:nvSpPr>
        <p:spPr>
          <a:xfrm rot="0">
            <a:off x="4698950" y="4067175"/>
            <a:ext cx="2984450"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Products include Keyboards, Mice and Headphones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83" name="Rectangle"/>
          <p:cNvSpPr>
            <a:spLocks/>
          </p:cNvSpPr>
          <p:nvPr/>
        </p:nvSpPr>
        <p:spPr>
          <a:xfrm rot="0">
            <a:off x="4641800" y="46196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84" name="Rectangle"/>
          <p:cNvSpPr>
            <a:spLocks/>
          </p:cNvSpPr>
          <p:nvPr/>
        </p:nvSpPr>
        <p:spPr>
          <a:xfrm rot="0">
            <a:off x="4698950" y="4619625"/>
            <a:ext cx="2984450" cy="6858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Other products in the dataset include Office Chairs, Desks, Bookshelves, Printers and Tablets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pic>
        <p:nvPicPr>
          <p:cNvPr id="185" name="Image" descr="image.png"/>
          <p:cNvPicPr>
            <a:picLocks noChangeAspect="1"/>
          </p:cNvPicPr>
          <p:nvPr/>
        </p:nvPicPr>
        <p:blipFill>
          <a:blip r:embed="rId9" cstate="print"/>
          <a:stretch>
            <a:fillRect/>
          </a:stretch>
        </p:blipFill>
        <p:spPr>
          <a:xfrm rot="0">
            <a:off x="8273949" y="2724150"/>
            <a:ext cx="219075" cy="171450"/>
          </a:xfrm>
          <a:prstGeom prst="rect"/>
          <a:noFill/>
          <a:ln w="12700" cmpd="sng" cap="flat">
            <a:noFill/>
            <a:prstDash val="solid"/>
            <a:miter/>
          </a:ln>
        </p:spPr>
      </p:pic>
      <p:sp>
        <p:nvSpPr>
          <p:cNvPr id="186" name="Rectangle"/>
          <p:cNvSpPr>
            <a:spLocks/>
          </p:cNvSpPr>
          <p:nvPr/>
        </p:nvSpPr>
        <p:spPr>
          <a:xfrm rot="0">
            <a:off x="8407300" y="3514725"/>
            <a:ext cx="57149"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87" name="Rectangle"/>
          <p:cNvSpPr>
            <a:spLocks/>
          </p:cNvSpPr>
          <p:nvPr/>
        </p:nvSpPr>
        <p:spPr>
          <a:xfrm rot="0">
            <a:off x="8464450" y="3514725"/>
            <a:ext cx="2984599"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Tracks </a:t>
            </a:r>
            <a:r>
              <a:rPr lang="en-US" altLang="zh-CN" sz="1200" b="1" i="0" u="none" strike="noStrike" kern="1200" cap="none" spc="0" baseline="0">
                <a:solidFill>
                  <a:srgbClr val="334155"/>
                </a:solidFill>
                <a:latin typeface="Inter" pitchFamily="0" charset="0"/>
                <a:ea typeface="宋体" pitchFamily="0" charset="0"/>
                <a:cs typeface="Calibri" pitchFamily="0" charset="0"/>
              </a:rPr>
              <a:t>Existing Customers</a:t>
            </a:r>
            <a:endParaRPr lang="zh-CN" altLang="en-US" sz="1200" b="1" i="0" u="none" strike="noStrike" kern="1200" cap="none" spc="0" baseline="0">
              <a:solidFill>
                <a:srgbClr val="334155"/>
              </a:solidFill>
              <a:latin typeface="Inter" pitchFamily="0" charset="0"/>
              <a:ea typeface="宋体" pitchFamily="0" charset="0"/>
              <a:cs typeface="Calibri" pitchFamily="0" charset="0"/>
            </a:endParaRPr>
          </a:p>
        </p:txBody>
      </p:sp>
      <p:sp>
        <p:nvSpPr>
          <p:cNvPr id="188" name="Rectangle"/>
          <p:cNvSpPr>
            <a:spLocks/>
          </p:cNvSpPr>
          <p:nvPr/>
        </p:nvSpPr>
        <p:spPr>
          <a:xfrm rot="0">
            <a:off x="8407300" y="3838575"/>
            <a:ext cx="57149"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89" name="Rectangle"/>
          <p:cNvSpPr>
            <a:spLocks/>
          </p:cNvSpPr>
          <p:nvPr/>
        </p:nvSpPr>
        <p:spPr>
          <a:xfrm rot="0">
            <a:off x="8464450" y="3838575"/>
            <a:ext cx="2984599"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Records </a:t>
            </a:r>
            <a:r>
              <a:rPr lang="en-US" altLang="zh-CN" sz="1200" b="1" i="0" u="none" strike="noStrike" kern="1200" cap="none" spc="0" baseline="0">
                <a:solidFill>
                  <a:srgbClr val="334155"/>
                </a:solidFill>
                <a:latin typeface="Inter" pitchFamily="0" charset="0"/>
                <a:ea typeface="宋体" pitchFamily="0" charset="0"/>
                <a:cs typeface="Calibri" pitchFamily="0" charset="0"/>
              </a:rPr>
              <a:t>New Customer Acquisitions</a:t>
            </a:r>
            <a:endParaRPr lang="zh-CN" altLang="en-US" sz="1200" b="1" i="0" u="none" strike="noStrike" kern="1200" cap="none" spc="0" baseline="0">
              <a:solidFill>
                <a:srgbClr val="334155"/>
              </a:solidFill>
              <a:latin typeface="Inter" pitchFamily="0" charset="0"/>
              <a:ea typeface="宋体" pitchFamily="0" charset="0"/>
              <a:cs typeface="Calibri" pitchFamily="0" charset="0"/>
            </a:endParaRPr>
          </a:p>
        </p:txBody>
      </p:sp>
      <p:sp>
        <p:nvSpPr>
          <p:cNvPr id="190" name="Rectangle"/>
          <p:cNvSpPr>
            <a:spLocks/>
          </p:cNvSpPr>
          <p:nvPr/>
        </p:nvSpPr>
        <p:spPr>
          <a:xfrm rot="0">
            <a:off x="8407300" y="4162425"/>
            <a:ext cx="57149"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191" name="Rectangle"/>
          <p:cNvSpPr>
            <a:spLocks/>
          </p:cNvSpPr>
          <p:nvPr/>
        </p:nvSpPr>
        <p:spPr>
          <a:xfrm rot="0">
            <a:off x="8464450" y="4162425"/>
            <a:ext cx="2984599"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Monitors </a:t>
            </a:r>
            <a:r>
              <a:rPr lang="en-US" altLang="zh-CN" sz="1200" b="1" i="0" u="none" strike="noStrike" kern="1200" cap="none" spc="0" baseline="0">
                <a:solidFill>
                  <a:srgbClr val="334155"/>
                </a:solidFill>
                <a:latin typeface="Inter" pitchFamily="0" charset="0"/>
                <a:ea typeface="宋体" pitchFamily="0" charset="0"/>
                <a:cs typeface="Calibri" pitchFamily="0" charset="0"/>
              </a:rPr>
              <a:t>Churned Customers</a:t>
            </a:r>
            <a:endParaRPr lang="zh-CN" altLang="en-US" sz="1200" b="1"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059173765"/>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192"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193"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194" name="Image" descr="image.png"/>
          <p:cNvPicPr>
            <a:picLocks noChangeAspect="1"/>
          </p:cNvPicPr>
          <p:nvPr/>
        </p:nvPicPr>
        <p:blipFill>
          <a:blip r:embed="rId3" cstate="print"/>
          <a:stretch>
            <a:fillRect/>
          </a:stretch>
        </p:blipFill>
        <p:spPr>
          <a:xfrm rot="0">
            <a:off x="542925" y="1181100"/>
            <a:ext cx="5419725" cy="2886075"/>
          </a:xfrm>
          <a:prstGeom prst="rect"/>
          <a:noFill/>
          <a:ln w="12700" cmpd="sng" cap="flat">
            <a:noFill/>
            <a:prstDash val="solid"/>
            <a:miter/>
          </a:ln>
        </p:spPr>
      </p:pic>
      <p:pic>
        <p:nvPicPr>
          <p:cNvPr id="195" name="Image" descr="image.png"/>
          <p:cNvPicPr>
            <a:picLocks noChangeAspect="1"/>
          </p:cNvPicPr>
          <p:nvPr/>
        </p:nvPicPr>
        <p:blipFill>
          <a:blip r:embed="rId4" cstate="print"/>
          <a:stretch>
            <a:fillRect/>
          </a:stretch>
        </p:blipFill>
        <p:spPr>
          <a:xfrm rot="0">
            <a:off x="6229350" y="1181100"/>
            <a:ext cx="5419724" cy="2886075"/>
          </a:xfrm>
          <a:prstGeom prst="rect"/>
          <a:noFill/>
          <a:ln w="12700" cmpd="sng" cap="flat">
            <a:noFill/>
            <a:prstDash val="solid"/>
            <a:miter/>
          </a:ln>
        </p:spPr>
      </p:pic>
      <p:sp>
        <p:nvSpPr>
          <p:cNvPr id="196"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Project Objectives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197" name="Rectangle"/>
          <p:cNvSpPr>
            <a:spLocks/>
          </p:cNvSpPr>
          <p:nvPr/>
        </p:nvSpPr>
        <p:spPr>
          <a:xfrm rot="0">
            <a:off x="542925" y="933450"/>
            <a:ext cx="11106150" cy="19050"/>
          </a:xfrm>
          <a:prstGeom prst="rect"/>
          <a:solidFill>
            <a:srgbClr val="E2E8F0"/>
          </a:solidFill>
          <a:ln w="9525" cmpd="sng" cap="flat">
            <a:noFill/>
            <a:prstDash val="solid"/>
            <a:round/>
          </a:ln>
        </p:spPr>
      </p:sp>
      <p:sp>
        <p:nvSpPr>
          <p:cNvPr id="199" name="Rectangle"/>
          <p:cNvSpPr>
            <a:spLocks/>
          </p:cNvSpPr>
          <p:nvPr/>
        </p:nvSpPr>
        <p:spPr>
          <a:xfrm rot="0">
            <a:off x="10991850" y="6515100"/>
            <a:ext cx="6572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8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200" name="Rectangle"/>
          <p:cNvSpPr>
            <a:spLocks/>
          </p:cNvSpPr>
          <p:nvPr/>
        </p:nvSpPr>
        <p:spPr>
          <a:xfrm rot="0">
            <a:off x="742949" y="1381124"/>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Primary Analytical Objectives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01"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Technical &amp; Practical Objectives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02" name="Rectangle"/>
          <p:cNvSpPr>
            <a:spLocks/>
          </p:cNvSpPr>
          <p:nvPr/>
        </p:nvSpPr>
        <p:spPr>
          <a:xfrm rot="0">
            <a:off x="876299"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03" name="Rectangle"/>
          <p:cNvSpPr>
            <a:spLocks/>
          </p:cNvSpPr>
          <p:nvPr/>
        </p:nvSpPr>
        <p:spPr>
          <a:xfrm rot="0">
            <a:off x="933450" y="16573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Sales Trend Analysis:</a:t>
            </a:r>
            <a:r>
              <a:rPr lang="en-US" altLang="zh-CN" sz="1200" b="0" i="0" u="none" strike="noStrike" kern="1200" cap="none" spc="0" baseline="0">
                <a:solidFill>
                  <a:srgbClr val="334155"/>
                </a:solidFill>
                <a:latin typeface="Inter" pitchFamily="0" charset="0"/>
                <a:ea typeface="宋体" pitchFamily="0" charset="0"/>
                <a:cs typeface="Calibri" pitchFamily="0" charset="0"/>
              </a:rPr>
              <a:t> Track overall sales and monthly revenue variations throughout the financial year.</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04" name="Rectangle"/>
          <p:cNvSpPr>
            <a:spLocks/>
          </p:cNvSpPr>
          <p:nvPr/>
        </p:nvSpPr>
        <p:spPr>
          <a:xfrm rot="0">
            <a:off x="876299" y="22098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05" name="Rectangle"/>
          <p:cNvSpPr>
            <a:spLocks/>
          </p:cNvSpPr>
          <p:nvPr/>
        </p:nvSpPr>
        <p:spPr>
          <a:xfrm rot="0">
            <a:off x="933450" y="22098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Customer Churn &amp; Retention:</a:t>
            </a:r>
            <a:r>
              <a:rPr lang="en-US" altLang="zh-CN" sz="1200" b="0" i="0" u="none" strike="noStrike" kern="1200" cap="none" spc="0" baseline="0">
                <a:solidFill>
                  <a:srgbClr val="334155"/>
                </a:solidFill>
                <a:latin typeface="Inter" pitchFamily="0" charset="0"/>
                <a:ea typeface="宋体" pitchFamily="0" charset="0"/>
                <a:cs typeface="Calibri" pitchFamily="0" charset="0"/>
              </a:rPr>
              <a:t> Study customer status to measure new additions versus customer churn.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06" name="Rectangle"/>
          <p:cNvSpPr>
            <a:spLocks/>
          </p:cNvSpPr>
          <p:nvPr/>
        </p:nvSpPr>
        <p:spPr>
          <a:xfrm rot="0">
            <a:off x="876299" y="2762249"/>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07" name="Rectangle"/>
          <p:cNvSpPr>
            <a:spLocks/>
          </p:cNvSpPr>
          <p:nvPr/>
        </p:nvSpPr>
        <p:spPr>
          <a:xfrm rot="0">
            <a:off x="933450" y="2762249"/>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Profitability Assessment:</a:t>
            </a:r>
            <a:r>
              <a:rPr lang="en-US" altLang="zh-CN" sz="1200" b="0" i="0" u="none" strike="noStrike" kern="1200" cap="none" spc="0" baseline="0">
                <a:solidFill>
                  <a:srgbClr val="334155"/>
                </a:solidFill>
                <a:latin typeface="Inter" pitchFamily="0" charset="0"/>
                <a:ea typeface="宋体" pitchFamily="0" charset="0"/>
                <a:cs typeface="Calibri" pitchFamily="0" charset="0"/>
              </a:rPr>
              <a:t> Measure overall gross profit and profit margins across products and categories.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08" name="Rectangle"/>
          <p:cNvSpPr>
            <a:spLocks/>
          </p:cNvSpPr>
          <p:nvPr/>
        </p:nvSpPr>
        <p:spPr>
          <a:xfrm rot="0">
            <a:off x="876299" y="33147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09" name="Rectangle"/>
          <p:cNvSpPr>
            <a:spLocks/>
          </p:cNvSpPr>
          <p:nvPr/>
        </p:nvSpPr>
        <p:spPr>
          <a:xfrm rot="0">
            <a:off x="933450" y="33147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Regional Comparison:</a:t>
            </a:r>
            <a:r>
              <a:rPr lang="en-US" altLang="zh-CN" sz="1200" b="0" i="0" u="none" strike="noStrike" kern="1200" cap="none" spc="0" baseline="0">
                <a:solidFill>
                  <a:srgbClr val="334155"/>
                </a:solidFill>
                <a:latin typeface="Inter" pitchFamily="0" charset="0"/>
                <a:ea typeface="宋体" pitchFamily="0" charset="0"/>
                <a:cs typeface="Calibri" pitchFamily="0" charset="0"/>
              </a:rPr>
              <a:t> Compare sales revenue and profit distribution across East, North, South, and West regions.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0" name="Rectangle"/>
          <p:cNvSpPr>
            <a:spLocks/>
          </p:cNvSpPr>
          <p:nvPr/>
        </p:nvSpPr>
        <p:spPr>
          <a:xfrm rot="0">
            <a:off x="6562725"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1" name="Rectangle"/>
          <p:cNvSpPr>
            <a:spLocks/>
          </p:cNvSpPr>
          <p:nvPr/>
        </p:nvSpPr>
        <p:spPr>
          <a:xfrm rot="0">
            <a:off x="6619874" y="16573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Product Level Analysis: Compare individual product performance.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2" name="Rectangle"/>
          <p:cNvSpPr>
            <a:spLocks/>
          </p:cNvSpPr>
          <p:nvPr/>
        </p:nvSpPr>
        <p:spPr>
          <a:xfrm rot="0">
            <a:off x="6562725" y="22098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3" name="Rectangle"/>
          <p:cNvSpPr>
            <a:spLocks/>
          </p:cNvSpPr>
          <p:nvPr/>
        </p:nvSpPr>
        <p:spPr>
          <a:xfrm rot="0">
            <a:off x="6619874" y="22098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Category Breakdown:</a:t>
            </a:r>
            <a:r>
              <a:rPr lang="en-US" altLang="zh-CN" sz="1200" b="0" i="0" u="none" strike="noStrike" kern="1200" cap="none" spc="0" baseline="0">
                <a:solidFill>
                  <a:srgbClr val="334155"/>
                </a:solidFill>
                <a:latin typeface="Inter" pitchFamily="0" charset="0"/>
                <a:ea typeface="宋体" pitchFamily="0" charset="0"/>
                <a:cs typeface="Calibri" pitchFamily="0" charset="0"/>
              </a:rPr>
              <a:t> Determine category contribution across Electronics, Furniture, and Accessories.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4" name="Rectangle"/>
          <p:cNvSpPr>
            <a:spLocks/>
          </p:cNvSpPr>
          <p:nvPr/>
        </p:nvSpPr>
        <p:spPr>
          <a:xfrm rot="0">
            <a:off x="6562725" y="2762249"/>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5" name="Rectangle"/>
          <p:cNvSpPr>
            <a:spLocks/>
          </p:cNvSpPr>
          <p:nvPr/>
        </p:nvSpPr>
        <p:spPr>
          <a:xfrm rot="0">
            <a:off x="6619874" y="2762249"/>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KPI &amp; Formula Creation:</a:t>
            </a:r>
            <a:r>
              <a:rPr lang="en-US" altLang="zh-CN" sz="1200" b="0" i="0" u="none" strike="noStrike" kern="1200" cap="none" spc="0" baseline="0">
                <a:solidFill>
                  <a:srgbClr val="334155"/>
                </a:solidFill>
                <a:latin typeface="Inter" pitchFamily="0" charset="0"/>
                <a:ea typeface="宋体" pitchFamily="0" charset="0"/>
                <a:cs typeface="Calibri" pitchFamily="0" charset="0"/>
              </a:rPr>
              <a:t> Develop calculated fields in Tableau for Profit, Profit Margin %, and Churn Rate %.</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6" name="Rectangle"/>
          <p:cNvSpPr>
            <a:spLocks/>
          </p:cNvSpPr>
          <p:nvPr/>
        </p:nvSpPr>
        <p:spPr>
          <a:xfrm rot="0">
            <a:off x="6562725" y="33147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17" name="Rectangle"/>
          <p:cNvSpPr>
            <a:spLocks/>
          </p:cNvSpPr>
          <p:nvPr/>
        </p:nvSpPr>
        <p:spPr>
          <a:xfrm rot="0">
            <a:off x="6619874" y="33147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Interactive Dashboards:</a:t>
            </a:r>
            <a:r>
              <a:rPr lang="en-US" altLang="zh-CN" sz="1200" b="0" i="0" u="none" strike="noStrike" kern="1200" cap="none" spc="0" baseline="0">
                <a:solidFill>
                  <a:srgbClr val="334155"/>
                </a:solidFill>
                <a:latin typeface="Inter" pitchFamily="0" charset="0"/>
                <a:ea typeface="宋体" pitchFamily="0" charset="0"/>
                <a:cs typeface="Calibri" pitchFamily="0" charset="0"/>
              </a:rPr>
              <a:t> Build 3 distinct, organized Tableau dashboards for effective presentation.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022839537"/>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218"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219"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220" name="Image" descr="image.png"/>
          <p:cNvPicPr>
            <a:picLocks noChangeAspect="1"/>
          </p:cNvPicPr>
          <p:nvPr/>
        </p:nvPicPr>
        <p:blipFill>
          <a:blip r:embed="rId3" cstate="print"/>
          <a:stretch>
            <a:fillRect/>
          </a:stretch>
        </p:blipFill>
        <p:spPr>
          <a:xfrm rot="0">
            <a:off x="542925" y="1181100"/>
            <a:ext cx="3575000" cy="1590675"/>
          </a:xfrm>
          <a:prstGeom prst="rect"/>
          <a:noFill/>
          <a:ln w="12700" cmpd="sng" cap="flat">
            <a:noFill/>
            <a:prstDash val="solid"/>
            <a:miter/>
          </a:ln>
        </p:spPr>
      </p:pic>
      <p:pic>
        <p:nvPicPr>
          <p:cNvPr id="221" name="Image" descr="image.png"/>
          <p:cNvPicPr>
            <a:picLocks noChangeAspect="1"/>
          </p:cNvPicPr>
          <p:nvPr/>
        </p:nvPicPr>
        <p:blipFill>
          <a:blip r:embed="rId4" cstate="print"/>
          <a:stretch>
            <a:fillRect/>
          </a:stretch>
        </p:blipFill>
        <p:spPr>
          <a:xfrm rot="0">
            <a:off x="4308425" y="1181100"/>
            <a:ext cx="3575000" cy="1590675"/>
          </a:xfrm>
          <a:prstGeom prst="rect"/>
          <a:noFill/>
          <a:ln w="12700" cmpd="sng" cap="flat">
            <a:noFill/>
            <a:prstDash val="solid"/>
            <a:miter/>
          </a:ln>
        </p:spPr>
      </p:pic>
      <p:pic>
        <p:nvPicPr>
          <p:cNvPr id="222" name="Image" descr="image.png"/>
          <p:cNvPicPr>
            <a:picLocks noChangeAspect="1"/>
          </p:cNvPicPr>
          <p:nvPr/>
        </p:nvPicPr>
        <p:blipFill>
          <a:blip r:embed="rId5" cstate="print"/>
          <a:stretch>
            <a:fillRect/>
          </a:stretch>
        </p:blipFill>
        <p:spPr>
          <a:xfrm rot="0">
            <a:off x="8073925" y="1181100"/>
            <a:ext cx="3575149" cy="1590675"/>
          </a:xfrm>
          <a:prstGeom prst="rect"/>
          <a:noFill/>
          <a:ln w="12700" cmpd="sng" cap="flat">
            <a:noFill/>
            <a:prstDash val="solid"/>
            <a:miter/>
          </a:ln>
        </p:spPr>
      </p:pic>
      <p:pic>
        <p:nvPicPr>
          <p:cNvPr id="223" name="Image" descr="image.png"/>
          <p:cNvPicPr>
            <a:picLocks noChangeAspect="1"/>
          </p:cNvPicPr>
          <p:nvPr/>
        </p:nvPicPr>
        <p:blipFill>
          <a:blip r:embed="rId6" cstate="print"/>
          <a:stretch>
            <a:fillRect/>
          </a:stretch>
        </p:blipFill>
        <p:spPr>
          <a:xfrm rot="0">
            <a:off x="542925" y="3114675"/>
            <a:ext cx="3575000" cy="1590675"/>
          </a:xfrm>
          <a:prstGeom prst="rect"/>
          <a:noFill/>
          <a:ln w="12700" cmpd="sng" cap="flat">
            <a:noFill/>
            <a:prstDash val="solid"/>
            <a:miter/>
          </a:ln>
        </p:spPr>
      </p:pic>
      <p:pic>
        <p:nvPicPr>
          <p:cNvPr id="224" name="Image" descr="image.png"/>
          <p:cNvPicPr>
            <a:picLocks noChangeAspect="1"/>
          </p:cNvPicPr>
          <p:nvPr/>
        </p:nvPicPr>
        <p:blipFill>
          <a:blip r:embed="rId7" cstate="print"/>
          <a:stretch>
            <a:fillRect/>
          </a:stretch>
        </p:blipFill>
        <p:spPr>
          <a:xfrm rot="0">
            <a:off x="4308425" y="3114675"/>
            <a:ext cx="3575000" cy="1590675"/>
          </a:xfrm>
          <a:prstGeom prst="rect"/>
          <a:noFill/>
          <a:ln w="12700" cmpd="sng" cap="flat">
            <a:noFill/>
            <a:prstDash val="solid"/>
            <a:miter/>
          </a:ln>
        </p:spPr>
      </p:pic>
      <p:pic>
        <p:nvPicPr>
          <p:cNvPr id="225" name="Image" descr="image.png"/>
          <p:cNvPicPr>
            <a:picLocks noChangeAspect="1"/>
          </p:cNvPicPr>
          <p:nvPr/>
        </p:nvPicPr>
        <p:blipFill>
          <a:blip r:embed="rId8" cstate="print"/>
          <a:stretch>
            <a:fillRect/>
          </a:stretch>
        </p:blipFill>
        <p:spPr>
          <a:xfrm rot="0">
            <a:off x="8073925" y="3114675"/>
            <a:ext cx="3575149" cy="1590675"/>
          </a:xfrm>
          <a:prstGeom prst="rect"/>
          <a:noFill/>
          <a:ln w="12700" cmpd="sng" cap="flat">
            <a:noFill/>
            <a:prstDash val="solid"/>
            <a:miter/>
          </a:ln>
        </p:spPr>
      </p:pic>
      <p:sp>
        <p:nvSpPr>
          <p:cNvPr id="226"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Learning Outcomes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227" name="Rectangle"/>
          <p:cNvSpPr>
            <a:spLocks/>
          </p:cNvSpPr>
          <p:nvPr/>
        </p:nvSpPr>
        <p:spPr>
          <a:xfrm rot="0">
            <a:off x="542925" y="933450"/>
            <a:ext cx="11106150" cy="19050"/>
          </a:xfrm>
          <a:prstGeom prst="rect"/>
          <a:solidFill>
            <a:srgbClr val="E2E8F0"/>
          </a:solidFill>
          <a:ln w="9525" cmpd="sng" cap="flat">
            <a:noFill/>
            <a:prstDash val="solid"/>
            <a:round/>
          </a:ln>
        </p:spPr>
      </p:sp>
      <p:sp>
        <p:nvSpPr>
          <p:cNvPr id="229" name="Rectangle"/>
          <p:cNvSpPr>
            <a:spLocks/>
          </p:cNvSpPr>
          <p:nvPr/>
        </p:nvSpPr>
        <p:spPr>
          <a:xfrm rot="0">
            <a:off x="10991850" y="6515100"/>
            <a:ext cx="6572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9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230" name="Rectangle"/>
          <p:cNvSpPr>
            <a:spLocks/>
          </p:cNvSpPr>
          <p:nvPr/>
        </p:nvSpPr>
        <p:spPr>
          <a:xfrm rot="0">
            <a:off x="742949" y="1381124"/>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1. Data Handling in Excel</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31" name="Rectangle"/>
          <p:cNvSpPr>
            <a:spLocks/>
          </p:cNvSpPr>
          <p:nvPr/>
        </p:nvSpPr>
        <p:spPr>
          <a:xfrm rot="0">
            <a:off x="742949" y="1657350"/>
            <a:ext cx="3174950" cy="6858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Learned how to inspect the dataset, check data types and review the table structure before using it in Tableau.</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32" name="Rectangle"/>
          <p:cNvSpPr>
            <a:spLocks/>
          </p:cNvSpPr>
          <p:nvPr/>
        </p:nvSpPr>
        <p:spPr>
          <a:xfrm rot="0">
            <a:off x="4508450" y="1381124"/>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2. Tableau Software Skills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33" name="Rectangle"/>
          <p:cNvSpPr>
            <a:spLocks/>
          </p:cNvSpPr>
          <p:nvPr/>
        </p:nvSpPr>
        <p:spPr>
          <a:xfrm rot="0">
            <a:off x="4508450" y="1657350"/>
            <a:ext cx="3174950" cy="6858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Understood Tableau's interface, dimensions and measures, and how to select suitable charts for the analysis.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34" name="Rectangle"/>
          <p:cNvSpPr>
            <a:spLocks/>
          </p:cNvSpPr>
          <p:nvPr/>
        </p:nvSpPr>
        <p:spPr>
          <a:xfrm rot="0">
            <a:off x="8273949" y="1381124"/>
            <a:ext cx="3175099"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3. Calculated Fields &amp; Logic</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35" name="Rectangle"/>
          <p:cNvSpPr>
            <a:spLocks/>
          </p:cNvSpPr>
          <p:nvPr/>
        </p:nvSpPr>
        <p:spPr>
          <a:xfrm rot="0">
            <a:off x="8273949" y="1657350"/>
            <a:ext cx="3175099" cy="6858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Gained practical experience creating calculated fields for Profit, Profit Margin %, customer count and churn rate.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36" name="Rectangle"/>
          <p:cNvSpPr>
            <a:spLocks/>
          </p:cNvSpPr>
          <p:nvPr/>
        </p:nvSpPr>
        <p:spPr>
          <a:xfrm rot="0">
            <a:off x="742949" y="3314700"/>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4. KPI &amp; Metric Design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37" name="Rectangle"/>
          <p:cNvSpPr>
            <a:spLocks/>
          </p:cNvSpPr>
          <p:nvPr/>
        </p:nvSpPr>
        <p:spPr>
          <a:xfrm rot="0">
            <a:off x="742949" y="3590925"/>
            <a:ext cx="3174950" cy="6858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Understood how KPIs such as Revenue, Profit, Customer Count and Churn Rate summarize the data.</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38" name="Rectangle"/>
          <p:cNvSpPr>
            <a:spLocks/>
          </p:cNvSpPr>
          <p:nvPr/>
        </p:nvSpPr>
        <p:spPr>
          <a:xfrm rot="0">
            <a:off x="4508450" y="3314700"/>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5. Dashboard Formatting</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39" name="Rectangle"/>
          <p:cNvSpPr>
            <a:spLocks/>
          </p:cNvSpPr>
          <p:nvPr/>
        </p:nvSpPr>
        <p:spPr>
          <a:xfrm rot="0">
            <a:off x="4508450" y="3590925"/>
            <a:ext cx="3174950" cy="6858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Learned how to arrange worksheets, format charts and maintain a readable dashboard layout.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40" name="Rectangle"/>
          <p:cNvSpPr>
            <a:spLocks/>
          </p:cNvSpPr>
          <p:nvPr/>
        </p:nvSpPr>
        <p:spPr>
          <a:xfrm rot="0">
            <a:off x="8273949" y="3314700"/>
            <a:ext cx="3175099"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6. Business Interpretation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41" name="Rectangle"/>
          <p:cNvSpPr>
            <a:spLocks/>
          </p:cNvSpPr>
          <p:nvPr/>
        </p:nvSpPr>
        <p:spPr>
          <a:xfrm rot="0">
            <a:off x="8273949" y="3590925"/>
            <a:ext cx="3175099" cy="6858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Developed the ability to explain charts and convert the results into simple business observations.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187783276"/>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242"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243"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sp>
        <p:nvSpPr>
          <p:cNvPr id="244"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Dataset Overview</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245" name="Rectangle"/>
          <p:cNvSpPr>
            <a:spLocks/>
          </p:cNvSpPr>
          <p:nvPr/>
        </p:nvSpPr>
        <p:spPr>
          <a:xfrm rot="0">
            <a:off x="542925" y="933450"/>
            <a:ext cx="11106150" cy="19050"/>
          </a:xfrm>
          <a:prstGeom prst="rect"/>
          <a:solidFill>
            <a:srgbClr val="E2E8F0"/>
          </a:solidFill>
          <a:ln w="9525" cmpd="sng" cap="flat">
            <a:noFill/>
            <a:prstDash val="solid"/>
            <a:round/>
          </a:ln>
        </p:spPr>
      </p:sp>
      <p:sp>
        <p:nvSpPr>
          <p:cNvPr id="246" name="Rectangle"/>
          <p:cNvSpPr>
            <a:spLocks/>
          </p:cNvSpPr>
          <p:nvPr/>
        </p:nvSpPr>
        <p:spPr>
          <a:xfrm rot="0">
            <a:off x="542925" y="1181100"/>
            <a:ext cx="11106150"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project uses the </a:t>
            </a:r>
            <a:r>
              <a:rPr lang="en-US" altLang="zh-CN" sz="1200" b="1" i="0" u="none" strike="noStrike" kern="1200" cap="none" spc="0" baseline="0">
                <a:solidFill>
                  <a:srgbClr val="334155"/>
                </a:solidFill>
                <a:latin typeface="Inter" pitchFamily="0" charset="0"/>
                <a:ea typeface="宋体" pitchFamily="0" charset="0"/>
                <a:cs typeface="Calibri" pitchFamily="0" charset="0"/>
              </a:rPr>
              <a:t>ABC Retail Business Performance Dataset</a:t>
            </a:r>
            <a:r>
              <a:rPr lang="en-US" altLang="zh-CN" sz="1200" b="0" i="0" u="none" strike="noStrike" kern="1200" cap="none" spc="0" baseline="0">
                <a:solidFill>
                  <a:srgbClr val="334155"/>
                </a:solidFill>
                <a:latin typeface="Inter" pitchFamily="0" charset="0"/>
                <a:ea typeface="宋体" pitchFamily="0" charset="0"/>
                <a:cs typeface="Calibri" pitchFamily="0" charset="0"/>
              </a:rPr>
              <a:t> stored in Excel format. Below is the structure of key fields analyzed:</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graphicFrame>
        <p:nvGraphicFramePr>
          <p:cNvPr id="247" name="Sheet"/>
          <p:cNvGraphicFramePr>
            <a:graphicFrameLocks noGrp="1"/>
          </p:cNvGraphicFramePr>
          <p:nvPr>
            <p:extLst>
              <p:ext uri="{D42A27DB-BD31-4B8C-83A1-F6EECF244321}"/>
            </p:extLst>
          </p:nvPr>
        </p:nvGraphicFramePr>
        <p:xfrm>
          <a:off x="542925" y="1600200"/>
          <a:ext cx="11096623" cy="3438525"/>
        </p:xfrm>
        <a:graphic>
          <a:graphicData uri="http://schemas.openxmlformats.org/drawingml/2006/table">
            <a:tbl>
              <a:tblPr bandRow="1">
                <a:noFill/>
              </a:tblPr>
              <a:tblGrid>
                <a:gridCol w="1719986"/>
                <a:gridCol w="1922398"/>
                <a:gridCol w="2135962"/>
                <a:gridCol w="5318201"/>
              </a:tblGrid>
              <a:tr h="382051">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Field Name</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Data Type</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Tableau Classification</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Description / Purpose</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Date</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Date / Time</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Dimension</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Records the transaction date (used for monthly trend analysis)</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Customer ID</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String / Text</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Dimension</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Unique identifier for individual buyers (e.g., C001, C003)</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Region</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String / Text</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Dimension</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Geographical territory (East, North, South, West)</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Product</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String / Text</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Dimension</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Item name (Laptop, Monitor, Keyboard, Mouse, Printer, etc.)</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Category</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String / Text</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Dimension</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Broad group (Electronics, Furniture, Accessories)</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Revenue</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Numeric (Currency)</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Measure</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Total monetary value generated from sales</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Cost</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Numeric (Currency)</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Measure</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Direct cost associated with products sold</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051">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Customer Status</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String / Text</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Dimension</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Classification of customer (New, Existing, Churned)</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bl>
          </a:graphicData>
        </a:graphic>
      </p:graphicFrame>
      <p:sp>
        <p:nvSpPr>
          <p:cNvPr id="249" name="Rectangle"/>
          <p:cNvSpPr>
            <a:spLocks/>
          </p:cNvSpPr>
          <p:nvPr/>
        </p:nvSpPr>
        <p:spPr>
          <a:xfrm rot="0">
            <a:off x="10934700" y="6515100"/>
            <a:ext cx="714374"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10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744042118"/>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250"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251"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252" name="Image" descr="image.png"/>
          <p:cNvPicPr>
            <a:picLocks noChangeAspect="1"/>
          </p:cNvPicPr>
          <p:nvPr/>
        </p:nvPicPr>
        <p:blipFill>
          <a:blip r:embed="rId3" cstate="print"/>
          <a:stretch>
            <a:fillRect/>
          </a:stretch>
        </p:blipFill>
        <p:spPr>
          <a:xfrm rot="0">
            <a:off x="542925" y="1181100"/>
            <a:ext cx="5419725" cy="2333625"/>
          </a:xfrm>
          <a:prstGeom prst="rect"/>
          <a:noFill/>
          <a:ln w="12700" cmpd="sng" cap="flat">
            <a:noFill/>
            <a:prstDash val="solid"/>
            <a:miter/>
          </a:ln>
        </p:spPr>
      </p:pic>
      <p:pic>
        <p:nvPicPr>
          <p:cNvPr id="253" name="Image" descr="image.png"/>
          <p:cNvPicPr>
            <a:picLocks noChangeAspect="1"/>
          </p:cNvPicPr>
          <p:nvPr/>
        </p:nvPicPr>
        <p:blipFill>
          <a:blip r:embed="rId4" cstate="print"/>
          <a:stretch>
            <a:fillRect/>
          </a:stretch>
        </p:blipFill>
        <p:spPr>
          <a:xfrm rot="0">
            <a:off x="6229350" y="1181100"/>
            <a:ext cx="5419724" cy="2333625"/>
          </a:xfrm>
          <a:prstGeom prst="rect"/>
          <a:noFill/>
          <a:ln w="12700" cmpd="sng" cap="flat">
            <a:noFill/>
            <a:prstDash val="solid"/>
            <a:miter/>
          </a:ln>
        </p:spPr>
      </p:pic>
      <p:pic>
        <p:nvPicPr>
          <p:cNvPr id="254" name="Image" descr="image.png"/>
          <p:cNvPicPr>
            <a:picLocks noChangeAspect="1"/>
          </p:cNvPicPr>
          <p:nvPr/>
        </p:nvPicPr>
        <p:blipFill>
          <a:blip r:embed="rId5" cstate="print"/>
          <a:stretch>
            <a:fillRect/>
          </a:stretch>
        </p:blipFill>
        <p:spPr>
          <a:xfrm rot="0">
            <a:off x="542925" y="3933825"/>
            <a:ext cx="5419725" cy="1781175"/>
          </a:xfrm>
          <a:prstGeom prst="rect"/>
          <a:noFill/>
          <a:ln w="12700" cmpd="sng" cap="flat">
            <a:noFill/>
            <a:prstDash val="solid"/>
            <a:miter/>
          </a:ln>
        </p:spPr>
      </p:pic>
      <p:pic>
        <p:nvPicPr>
          <p:cNvPr id="255" name="Image" descr="image.png"/>
          <p:cNvPicPr>
            <a:picLocks noChangeAspect="1"/>
          </p:cNvPicPr>
          <p:nvPr/>
        </p:nvPicPr>
        <p:blipFill>
          <a:blip r:embed="rId6" cstate="print"/>
          <a:stretch>
            <a:fillRect/>
          </a:stretch>
        </p:blipFill>
        <p:spPr>
          <a:xfrm rot="0">
            <a:off x="6229350" y="3933825"/>
            <a:ext cx="5419724" cy="1781175"/>
          </a:xfrm>
          <a:prstGeom prst="rect"/>
          <a:noFill/>
          <a:ln w="12700" cmpd="sng" cap="flat">
            <a:noFill/>
            <a:prstDash val="solid"/>
            <a:miter/>
          </a:ln>
        </p:spPr>
      </p:pic>
      <p:sp>
        <p:nvSpPr>
          <p:cNvPr id="256"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Data Preparation Process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257" name="Rectangle"/>
          <p:cNvSpPr>
            <a:spLocks/>
          </p:cNvSpPr>
          <p:nvPr/>
        </p:nvSpPr>
        <p:spPr>
          <a:xfrm rot="0">
            <a:off x="542925" y="933450"/>
            <a:ext cx="11106150" cy="19050"/>
          </a:xfrm>
          <a:prstGeom prst="rect"/>
          <a:solidFill>
            <a:srgbClr val="E2E8F0"/>
          </a:solidFill>
          <a:ln w="9525" cmpd="sng" cap="flat">
            <a:noFill/>
            <a:prstDash val="solid"/>
            <a:round/>
          </a:ln>
        </p:spPr>
      </p:sp>
      <p:sp>
        <p:nvSpPr>
          <p:cNvPr id="259" name="Rectangle"/>
          <p:cNvSpPr>
            <a:spLocks/>
          </p:cNvSpPr>
          <p:nvPr/>
        </p:nvSpPr>
        <p:spPr>
          <a:xfrm rot="0">
            <a:off x="10963275" y="6515100"/>
            <a:ext cx="685800"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11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260" name="Rectangle"/>
          <p:cNvSpPr>
            <a:spLocks/>
          </p:cNvSpPr>
          <p:nvPr/>
        </p:nvSpPr>
        <p:spPr>
          <a:xfrm rot="0">
            <a:off x="742949" y="1381124"/>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Step 1: Initial Inspection in Excel</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61"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Step 2: Data Type Verification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62" name="Rectangle"/>
          <p:cNvSpPr>
            <a:spLocks/>
          </p:cNvSpPr>
          <p:nvPr/>
        </p:nvSpPr>
        <p:spPr>
          <a:xfrm rot="0">
            <a:off x="742949" y="4133850"/>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Step 3: Dimension vs. Measure Sorting</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63" name="Rectangle"/>
          <p:cNvSpPr>
            <a:spLocks/>
          </p:cNvSpPr>
          <p:nvPr/>
        </p:nvSpPr>
        <p:spPr>
          <a:xfrm rot="0">
            <a:off x="6429375" y="4133850"/>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Step 4: Connection to Tableau</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264" name="Rectangle"/>
          <p:cNvSpPr>
            <a:spLocks/>
          </p:cNvSpPr>
          <p:nvPr/>
        </p:nvSpPr>
        <p:spPr>
          <a:xfrm rot="0">
            <a:off x="876299"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65" name="Rectangle"/>
          <p:cNvSpPr>
            <a:spLocks/>
          </p:cNvSpPr>
          <p:nvPr/>
        </p:nvSpPr>
        <p:spPr>
          <a:xfrm rot="0">
            <a:off x="933450" y="16573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Checked the dataset in Microsoft Excel to understand the columns and table structure.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66" name="Rectangle"/>
          <p:cNvSpPr>
            <a:spLocks/>
          </p:cNvSpPr>
          <p:nvPr/>
        </p:nvSpPr>
        <p:spPr>
          <a:xfrm rot="0">
            <a:off x="876299" y="22098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67" name="Rectangle"/>
          <p:cNvSpPr>
            <a:spLocks/>
          </p:cNvSpPr>
          <p:nvPr/>
        </p:nvSpPr>
        <p:spPr>
          <a:xfrm rot="0">
            <a:off x="933450" y="220980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Checked column names and structure.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68" name="Rectangle"/>
          <p:cNvSpPr>
            <a:spLocks/>
          </p:cNvSpPr>
          <p:nvPr/>
        </p:nvSpPr>
        <p:spPr>
          <a:xfrm rot="0">
            <a:off x="876299" y="2762249"/>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69" name="Rectangle"/>
          <p:cNvSpPr>
            <a:spLocks/>
          </p:cNvSpPr>
          <p:nvPr/>
        </p:nvSpPr>
        <p:spPr>
          <a:xfrm rot="0">
            <a:off x="933450" y="2762249"/>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Reviewed the data for missing or incorrect values.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0" name="Rectangle"/>
          <p:cNvSpPr>
            <a:spLocks/>
          </p:cNvSpPr>
          <p:nvPr/>
        </p:nvSpPr>
        <p:spPr>
          <a:xfrm rot="0">
            <a:off x="6562725"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1" name="Rectangle"/>
          <p:cNvSpPr>
            <a:spLocks/>
          </p:cNvSpPr>
          <p:nvPr/>
        </p:nvSpPr>
        <p:spPr>
          <a:xfrm rot="0">
            <a:off x="6619874" y="16573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Checked that the Date field was recognized correctly.</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2" name="Rectangle"/>
          <p:cNvSpPr>
            <a:spLocks/>
          </p:cNvSpPr>
          <p:nvPr/>
        </p:nvSpPr>
        <p:spPr>
          <a:xfrm rot="0">
            <a:off x="6562725" y="22098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3" name="Rectangle"/>
          <p:cNvSpPr>
            <a:spLocks/>
          </p:cNvSpPr>
          <p:nvPr/>
        </p:nvSpPr>
        <p:spPr>
          <a:xfrm rot="0">
            <a:off x="6619874" y="220980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Checked that Revenue and Cost were numeric measures.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4" name="Rectangle"/>
          <p:cNvSpPr>
            <a:spLocks/>
          </p:cNvSpPr>
          <p:nvPr/>
        </p:nvSpPr>
        <p:spPr>
          <a:xfrm rot="0">
            <a:off x="6562725" y="2762249"/>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5" name="Rectangle"/>
          <p:cNvSpPr>
            <a:spLocks/>
          </p:cNvSpPr>
          <p:nvPr/>
        </p:nvSpPr>
        <p:spPr>
          <a:xfrm rot="0">
            <a:off x="6619874" y="2762249"/>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Set Customer ID and Region as text dimensions.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6" name="Rectangle"/>
          <p:cNvSpPr>
            <a:spLocks/>
          </p:cNvSpPr>
          <p:nvPr/>
        </p:nvSpPr>
        <p:spPr>
          <a:xfrm rot="0">
            <a:off x="876299" y="44100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7" name="Rectangle"/>
          <p:cNvSpPr>
            <a:spLocks/>
          </p:cNvSpPr>
          <p:nvPr/>
        </p:nvSpPr>
        <p:spPr>
          <a:xfrm rot="0">
            <a:off x="933450" y="441007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Categorized categorical attributes (Product, Category, Region) as </a:t>
            </a:r>
            <a:r>
              <a:rPr lang="en-US" altLang="zh-CN" sz="1200" b="1" i="0" u="none" strike="noStrike" kern="1200" cap="none" spc="0" baseline="0">
                <a:solidFill>
                  <a:srgbClr val="334155"/>
                </a:solidFill>
                <a:latin typeface="Inter" pitchFamily="0" charset="0"/>
                <a:ea typeface="宋体" pitchFamily="0" charset="0"/>
                <a:cs typeface="Calibri" pitchFamily="0" charset="0"/>
              </a:rPr>
              <a:t>Dimensions</a:t>
            </a: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8" name="Rectangle"/>
          <p:cNvSpPr>
            <a:spLocks/>
          </p:cNvSpPr>
          <p:nvPr/>
        </p:nvSpPr>
        <p:spPr>
          <a:xfrm rot="0">
            <a:off x="876299" y="49625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79" name="Rectangle"/>
          <p:cNvSpPr>
            <a:spLocks/>
          </p:cNvSpPr>
          <p:nvPr/>
        </p:nvSpPr>
        <p:spPr>
          <a:xfrm rot="0">
            <a:off x="933450" y="496252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Categorized financial numbers (Revenue, Cost) as quantitative </a:t>
            </a:r>
            <a:r>
              <a:rPr lang="en-US" altLang="zh-CN" sz="1200" b="1" i="0" u="none" strike="noStrike" kern="1200" cap="none" spc="0" baseline="0">
                <a:solidFill>
                  <a:srgbClr val="334155"/>
                </a:solidFill>
                <a:latin typeface="Inter" pitchFamily="0" charset="0"/>
                <a:ea typeface="宋体" pitchFamily="0" charset="0"/>
                <a:cs typeface="Calibri" pitchFamily="0" charset="0"/>
              </a:rPr>
              <a:t>Measures</a:t>
            </a: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80" name="Rectangle"/>
          <p:cNvSpPr>
            <a:spLocks/>
          </p:cNvSpPr>
          <p:nvPr/>
        </p:nvSpPr>
        <p:spPr>
          <a:xfrm rot="0">
            <a:off x="6562725" y="44100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81" name="Rectangle"/>
          <p:cNvSpPr>
            <a:spLocks/>
          </p:cNvSpPr>
          <p:nvPr/>
        </p:nvSpPr>
        <p:spPr>
          <a:xfrm rot="0">
            <a:off x="6619874" y="441007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Connected the Excel dataset to Tableau Desktop.</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82" name="Rectangle"/>
          <p:cNvSpPr>
            <a:spLocks/>
          </p:cNvSpPr>
          <p:nvPr/>
        </p:nvSpPr>
        <p:spPr>
          <a:xfrm rot="0">
            <a:off x="6562725" y="49625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83" name="Rectangle"/>
          <p:cNvSpPr>
            <a:spLocks/>
          </p:cNvSpPr>
          <p:nvPr/>
        </p:nvSpPr>
        <p:spPr>
          <a:xfrm rot="0">
            <a:off x="6619874" y="496252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Checked data types in Tableau before creating worksheets.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144018276"/>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284"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285"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286" name="Image" descr="image.png"/>
          <p:cNvPicPr>
            <a:picLocks noChangeAspect="1"/>
          </p:cNvPicPr>
          <p:nvPr/>
        </p:nvPicPr>
        <p:blipFill>
          <a:blip r:embed="rId3" cstate="print"/>
          <a:stretch>
            <a:fillRect/>
          </a:stretch>
        </p:blipFill>
        <p:spPr>
          <a:xfrm rot="0">
            <a:off x="542925" y="3619500"/>
            <a:ext cx="11106150" cy="1104900"/>
          </a:xfrm>
          <a:prstGeom prst="rect"/>
          <a:noFill/>
          <a:ln w="12700" cmpd="sng" cap="flat">
            <a:noFill/>
            <a:prstDash val="solid"/>
            <a:miter/>
          </a:ln>
        </p:spPr>
      </p:pic>
      <p:pic>
        <p:nvPicPr>
          <p:cNvPr id="287" name="Image" descr="image.png"/>
          <p:cNvPicPr>
            <a:picLocks noChangeAspect="1"/>
          </p:cNvPicPr>
          <p:nvPr/>
        </p:nvPicPr>
        <p:blipFill>
          <a:blip r:embed="rId4" cstate="print"/>
          <a:stretch>
            <a:fillRect/>
          </a:stretch>
        </p:blipFill>
        <p:spPr>
          <a:xfrm rot="0">
            <a:off x="2286000" y="1600200"/>
            <a:ext cx="1790700" cy="628650"/>
          </a:xfrm>
          <a:prstGeom prst="rect"/>
          <a:noFill/>
          <a:ln w="12700" cmpd="sng" cap="flat">
            <a:noFill/>
            <a:prstDash val="solid"/>
            <a:miter/>
          </a:ln>
        </p:spPr>
      </p:pic>
      <p:pic>
        <p:nvPicPr>
          <p:cNvPr id="288" name="Image" descr="image.png"/>
          <p:cNvPicPr>
            <a:picLocks noChangeAspect="1"/>
          </p:cNvPicPr>
          <p:nvPr/>
        </p:nvPicPr>
        <p:blipFill>
          <a:blip r:embed="rId5" cstate="print"/>
          <a:stretch>
            <a:fillRect/>
          </a:stretch>
        </p:blipFill>
        <p:spPr>
          <a:xfrm rot="0">
            <a:off x="4229100" y="1600200"/>
            <a:ext cx="1790700" cy="628650"/>
          </a:xfrm>
          <a:prstGeom prst="rect"/>
          <a:noFill/>
          <a:ln w="12700" cmpd="sng" cap="flat">
            <a:noFill/>
            <a:prstDash val="solid"/>
            <a:miter/>
          </a:ln>
        </p:spPr>
      </p:pic>
      <p:pic>
        <p:nvPicPr>
          <p:cNvPr id="289" name="Image" descr="image.png"/>
          <p:cNvPicPr>
            <a:picLocks noChangeAspect="1"/>
          </p:cNvPicPr>
          <p:nvPr/>
        </p:nvPicPr>
        <p:blipFill>
          <a:blip r:embed="rId6" cstate="print"/>
          <a:stretch>
            <a:fillRect/>
          </a:stretch>
        </p:blipFill>
        <p:spPr>
          <a:xfrm rot="0">
            <a:off x="6172200" y="1600200"/>
            <a:ext cx="1790700" cy="628650"/>
          </a:xfrm>
          <a:prstGeom prst="rect"/>
          <a:noFill/>
          <a:ln w="12700" cmpd="sng" cap="flat">
            <a:noFill/>
            <a:prstDash val="solid"/>
            <a:miter/>
          </a:ln>
        </p:spPr>
      </p:pic>
      <p:pic>
        <p:nvPicPr>
          <p:cNvPr id="290" name="Image" descr="image.png"/>
          <p:cNvPicPr>
            <a:picLocks noChangeAspect="1"/>
          </p:cNvPicPr>
          <p:nvPr/>
        </p:nvPicPr>
        <p:blipFill>
          <a:blip r:embed="rId7" cstate="print"/>
          <a:stretch>
            <a:fillRect/>
          </a:stretch>
        </p:blipFill>
        <p:spPr>
          <a:xfrm rot="0">
            <a:off x="8115300" y="1600200"/>
            <a:ext cx="1790700" cy="628650"/>
          </a:xfrm>
          <a:prstGeom prst="rect"/>
          <a:noFill/>
          <a:ln w="12700" cmpd="sng" cap="flat">
            <a:noFill/>
            <a:prstDash val="solid"/>
            <a:miter/>
          </a:ln>
        </p:spPr>
      </p:pic>
      <p:pic>
        <p:nvPicPr>
          <p:cNvPr id="291" name="Image" descr="image.png"/>
          <p:cNvPicPr>
            <a:picLocks noChangeAspect="1"/>
          </p:cNvPicPr>
          <p:nvPr/>
        </p:nvPicPr>
        <p:blipFill>
          <a:blip r:embed="rId8" cstate="print"/>
          <a:stretch>
            <a:fillRect/>
          </a:stretch>
        </p:blipFill>
        <p:spPr>
          <a:xfrm rot="0">
            <a:off x="2286000" y="2705100"/>
            <a:ext cx="1790700" cy="628650"/>
          </a:xfrm>
          <a:prstGeom prst="rect"/>
          <a:noFill/>
          <a:ln w="12700" cmpd="sng" cap="flat">
            <a:noFill/>
            <a:prstDash val="solid"/>
            <a:miter/>
          </a:ln>
        </p:spPr>
      </p:pic>
      <p:pic>
        <p:nvPicPr>
          <p:cNvPr id="292" name="Image" descr="image.png"/>
          <p:cNvPicPr>
            <a:picLocks noChangeAspect="1"/>
          </p:cNvPicPr>
          <p:nvPr/>
        </p:nvPicPr>
        <p:blipFill>
          <a:blip r:embed="rId9" cstate="print"/>
          <a:stretch>
            <a:fillRect/>
          </a:stretch>
        </p:blipFill>
        <p:spPr>
          <a:xfrm rot="0">
            <a:off x="4229100" y="2705100"/>
            <a:ext cx="1790700" cy="628650"/>
          </a:xfrm>
          <a:prstGeom prst="rect"/>
          <a:noFill/>
          <a:ln w="12700" cmpd="sng" cap="flat">
            <a:noFill/>
            <a:prstDash val="solid"/>
            <a:miter/>
          </a:ln>
        </p:spPr>
      </p:pic>
      <p:pic>
        <p:nvPicPr>
          <p:cNvPr id="293" name="Image" descr="image.png"/>
          <p:cNvPicPr>
            <a:picLocks noChangeAspect="1"/>
          </p:cNvPicPr>
          <p:nvPr/>
        </p:nvPicPr>
        <p:blipFill>
          <a:blip r:embed="rId10" cstate="print"/>
          <a:stretch>
            <a:fillRect/>
          </a:stretch>
        </p:blipFill>
        <p:spPr>
          <a:xfrm rot="0">
            <a:off x="6172200" y="2705100"/>
            <a:ext cx="1790700" cy="628650"/>
          </a:xfrm>
          <a:prstGeom prst="rect"/>
          <a:noFill/>
          <a:ln w="12700" cmpd="sng" cap="flat">
            <a:noFill/>
            <a:prstDash val="solid"/>
            <a:miter/>
          </a:ln>
        </p:spPr>
      </p:pic>
      <p:pic>
        <p:nvPicPr>
          <p:cNvPr id="294" name="Image" descr="image.png"/>
          <p:cNvPicPr>
            <a:picLocks noChangeAspect="1"/>
          </p:cNvPicPr>
          <p:nvPr/>
        </p:nvPicPr>
        <p:blipFill>
          <a:blip r:embed="rId11" cstate="print"/>
          <a:stretch>
            <a:fillRect/>
          </a:stretch>
        </p:blipFill>
        <p:spPr>
          <a:xfrm rot="0">
            <a:off x="8115300" y="2705100"/>
            <a:ext cx="1790700" cy="628650"/>
          </a:xfrm>
          <a:prstGeom prst="rect"/>
          <a:noFill/>
          <a:ln w="12700" cmpd="sng" cap="flat">
            <a:noFill/>
            <a:prstDash val="solid"/>
            <a:miter/>
          </a:ln>
        </p:spPr>
      </p:pic>
      <p:sp>
        <p:nvSpPr>
          <p:cNvPr id="295"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Project Methodology</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296" name="Rectangle"/>
          <p:cNvSpPr>
            <a:spLocks/>
          </p:cNvSpPr>
          <p:nvPr/>
        </p:nvSpPr>
        <p:spPr>
          <a:xfrm rot="0">
            <a:off x="542925" y="933450"/>
            <a:ext cx="11106150" cy="19050"/>
          </a:xfrm>
          <a:prstGeom prst="rect"/>
          <a:solidFill>
            <a:srgbClr val="E2E8F0"/>
          </a:solidFill>
          <a:ln w="9525" cmpd="sng" cap="flat">
            <a:noFill/>
            <a:prstDash val="solid"/>
            <a:round/>
          </a:ln>
        </p:spPr>
      </p:sp>
      <p:sp>
        <p:nvSpPr>
          <p:cNvPr id="297" name="Rectangle"/>
          <p:cNvSpPr>
            <a:spLocks/>
          </p:cNvSpPr>
          <p:nvPr/>
        </p:nvSpPr>
        <p:spPr>
          <a:xfrm rot="0">
            <a:off x="542925" y="1181100"/>
            <a:ext cx="11106150"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project followed a standard step-by-step analytics workflow from raw dataset to final presentation:</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299"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12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300" name="Rectangle"/>
          <p:cNvSpPr>
            <a:spLocks/>
          </p:cNvSpPr>
          <p:nvPr/>
        </p:nvSpPr>
        <p:spPr>
          <a:xfrm rot="0">
            <a:off x="742949" y="3819525"/>
            <a:ext cx="1070610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Workflow Explanation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01" name="Rectangle"/>
          <p:cNvSpPr>
            <a:spLocks/>
          </p:cNvSpPr>
          <p:nvPr/>
        </p:nvSpPr>
        <p:spPr>
          <a:xfrm rot="0">
            <a:off x="742949" y="4095750"/>
            <a:ext cx="10706100" cy="42849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687"/>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Starting from raw transaction rows in Excel, the data was checked and linked to Tableau Desktop. Calculated formulas were built to compute profit and customer counts. Individual charts were developed in separate worksheets and then arranged into three comprehensive dashboards.</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p:txBody>
      </p:sp>
      <p:pic>
        <p:nvPicPr>
          <p:cNvPr id="302" name="Image" descr="image.png"/>
          <p:cNvPicPr>
            <a:picLocks noChangeAspect="1"/>
          </p:cNvPicPr>
          <p:nvPr/>
        </p:nvPicPr>
        <p:blipFill>
          <a:blip r:embed="rId12" cstate="print"/>
          <a:stretch>
            <a:fillRect/>
          </a:stretch>
        </p:blipFill>
        <p:spPr>
          <a:xfrm rot="0">
            <a:off x="6024562" y="2419350"/>
            <a:ext cx="142875" cy="190500"/>
          </a:xfrm>
          <a:prstGeom prst="rect"/>
          <a:noFill/>
          <a:ln w="12700" cmpd="sng" cap="flat">
            <a:noFill/>
            <a:prstDash val="solid"/>
            <a:miter/>
          </a:ln>
        </p:spPr>
      </p:pic>
    </p:spTree>
    <p:extLst>
      <p:ext uri="{BB962C8B-B14F-4D97-AF65-F5344CB8AC3E}">
        <p14:creationId xmlns:p14="http://schemas.microsoft.com/office/powerpoint/2010/main" val="903114464"/>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303"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304"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305" name="Image" descr="image.png"/>
          <p:cNvPicPr>
            <a:picLocks noChangeAspect="1"/>
          </p:cNvPicPr>
          <p:nvPr/>
        </p:nvPicPr>
        <p:blipFill>
          <a:blip r:embed="rId3" cstate="print"/>
          <a:stretch>
            <a:fillRect/>
          </a:stretch>
        </p:blipFill>
        <p:spPr>
          <a:xfrm rot="0">
            <a:off x="542925" y="1181100"/>
            <a:ext cx="3575000" cy="2085974"/>
          </a:xfrm>
          <a:prstGeom prst="rect"/>
          <a:noFill/>
          <a:ln w="12700" cmpd="sng" cap="flat">
            <a:noFill/>
            <a:prstDash val="solid"/>
            <a:miter/>
          </a:ln>
        </p:spPr>
      </p:pic>
      <p:pic>
        <p:nvPicPr>
          <p:cNvPr id="306" name="Image" descr="image.png"/>
          <p:cNvPicPr>
            <a:picLocks noChangeAspect="1"/>
          </p:cNvPicPr>
          <p:nvPr/>
        </p:nvPicPr>
        <p:blipFill>
          <a:blip r:embed="rId4" cstate="print"/>
          <a:stretch>
            <a:fillRect/>
          </a:stretch>
        </p:blipFill>
        <p:spPr>
          <a:xfrm rot="0">
            <a:off x="4308425" y="1181100"/>
            <a:ext cx="3575000" cy="2085974"/>
          </a:xfrm>
          <a:prstGeom prst="rect"/>
          <a:noFill/>
          <a:ln w="12700" cmpd="sng" cap="flat">
            <a:noFill/>
            <a:prstDash val="solid"/>
            <a:miter/>
          </a:ln>
        </p:spPr>
      </p:pic>
      <p:pic>
        <p:nvPicPr>
          <p:cNvPr id="307" name="Image" descr="image.png"/>
          <p:cNvPicPr>
            <a:picLocks noChangeAspect="1"/>
          </p:cNvPicPr>
          <p:nvPr/>
        </p:nvPicPr>
        <p:blipFill>
          <a:blip r:embed="rId5" cstate="print"/>
          <a:stretch>
            <a:fillRect/>
          </a:stretch>
        </p:blipFill>
        <p:spPr>
          <a:xfrm rot="0">
            <a:off x="8073925" y="1181100"/>
            <a:ext cx="3575149" cy="2085974"/>
          </a:xfrm>
          <a:prstGeom prst="rect"/>
          <a:noFill/>
          <a:ln w="12700" cmpd="sng" cap="flat">
            <a:noFill/>
            <a:prstDash val="solid"/>
            <a:miter/>
          </a:ln>
        </p:spPr>
      </p:pic>
      <p:sp>
        <p:nvSpPr>
          <p:cNvPr id="308"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Software Tools Used</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309" name="Rectangle"/>
          <p:cNvSpPr>
            <a:spLocks/>
          </p:cNvSpPr>
          <p:nvPr/>
        </p:nvSpPr>
        <p:spPr>
          <a:xfrm rot="0">
            <a:off x="542925" y="933450"/>
            <a:ext cx="11106150" cy="19050"/>
          </a:xfrm>
          <a:prstGeom prst="rect"/>
          <a:solidFill>
            <a:srgbClr val="E2E8F0"/>
          </a:solidFill>
          <a:ln w="9525" cmpd="sng" cap="flat">
            <a:noFill/>
            <a:prstDash val="solid"/>
            <a:round/>
          </a:ln>
        </p:spPr>
      </p:sp>
      <p:sp>
        <p:nvSpPr>
          <p:cNvPr id="311"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13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312" name="Rectangle"/>
          <p:cNvSpPr>
            <a:spLocks/>
          </p:cNvSpPr>
          <p:nvPr/>
        </p:nvSpPr>
        <p:spPr>
          <a:xfrm rot="0">
            <a:off x="742949" y="1381124"/>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Microsoft Excel</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13" name="Rectangle"/>
          <p:cNvSpPr>
            <a:spLocks/>
          </p:cNvSpPr>
          <p:nvPr/>
        </p:nvSpPr>
        <p:spPr>
          <a:xfrm rot="0">
            <a:off x="742949" y="1657350"/>
            <a:ext cx="3174950" cy="6000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Used for primary data storage, preliminary row verification, column structure checks, and quick validation of totals before importing into Tableau.</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pic>
        <p:nvPicPr>
          <p:cNvPr id="314" name="Image" descr="image.png"/>
          <p:cNvPicPr>
            <a:picLocks noChangeAspect="1"/>
          </p:cNvPicPr>
          <p:nvPr/>
        </p:nvPicPr>
        <p:blipFill>
          <a:blip r:embed="rId6" cstate="print"/>
          <a:stretch>
            <a:fillRect/>
          </a:stretch>
        </p:blipFill>
        <p:spPr>
          <a:xfrm rot="0">
            <a:off x="5867250" y="1381124"/>
            <a:ext cx="457200" cy="457200"/>
          </a:xfrm>
          <a:prstGeom prst="rect"/>
          <a:noFill/>
          <a:ln w="12700" cmpd="sng" cap="flat">
            <a:noFill/>
            <a:prstDash val="solid"/>
            <a:miter/>
          </a:ln>
        </p:spPr>
      </p:pic>
      <p:sp>
        <p:nvSpPr>
          <p:cNvPr id="315" name="Rectangle"/>
          <p:cNvSpPr>
            <a:spLocks/>
          </p:cNvSpPr>
          <p:nvPr/>
        </p:nvSpPr>
        <p:spPr>
          <a:xfrm rot="0">
            <a:off x="4508450" y="1990725"/>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Tableau Desktop</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16" name="Rectangle"/>
          <p:cNvSpPr>
            <a:spLocks/>
          </p:cNvSpPr>
          <p:nvPr/>
        </p:nvSpPr>
        <p:spPr>
          <a:xfrm rot="0">
            <a:off x="4508450" y="2266950"/>
            <a:ext cx="3174950" cy="6000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The core data visualization tool used to create calculated fields, build visual worksheets, format bar/line charts, and construct interactive dashboards.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317" name="Rectangle"/>
          <p:cNvSpPr>
            <a:spLocks/>
          </p:cNvSpPr>
          <p:nvPr/>
        </p:nvSpPr>
        <p:spPr>
          <a:xfrm rot="0">
            <a:off x="8273949" y="1381124"/>
            <a:ext cx="3175099" cy="209550"/>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Microsoft PowerPoint</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18" name="Rectangle"/>
          <p:cNvSpPr>
            <a:spLocks/>
          </p:cNvSpPr>
          <p:nvPr/>
        </p:nvSpPr>
        <p:spPr>
          <a:xfrm rot="0">
            <a:off x="8273949" y="1657350"/>
            <a:ext cx="3175099"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Used to present the project work, screenshots, findings and final internship presentation.</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134699067"/>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319"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320"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sp>
        <p:nvSpPr>
          <p:cNvPr id="321"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Calculated Fields &amp; Key Metrics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322" name="Rectangle"/>
          <p:cNvSpPr>
            <a:spLocks/>
          </p:cNvSpPr>
          <p:nvPr/>
        </p:nvSpPr>
        <p:spPr>
          <a:xfrm rot="0">
            <a:off x="542925" y="933450"/>
            <a:ext cx="11106150" cy="19050"/>
          </a:xfrm>
          <a:prstGeom prst="rect"/>
          <a:solidFill>
            <a:srgbClr val="E2E8F0"/>
          </a:solidFill>
          <a:ln w="9525" cmpd="sng" cap="flat">
            <a:noFill/>
            <a:prstDash val="solid"/>
            <a:round/>
          </a:ln>
        </p:spPr>
      </p:sp>
      <p:sp>
        <p:nvSpPr>
          <p:cNvPr id="323" name="Rectangle"/>
          <p:cNvSpPr>
            <a:spLocks/>
          </p:cNvSpPr>
          <p:nvPr/>
        </p:nvSpPr>
        <p:spPr>
          <a:xfrm rot="0">
            <a:off x="542925" y="1181100"/>
            <a:ext cx="11106150" cy="22860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To extract financial and customer indicators, custom calculated fields were written in Tableau:</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25" name="Rectangle"/>
          <p:cNvSpPr>
            <a:spLocks/>
          </p:cNvSpPr>
          <p:nvPr/>
        </p:nvSpPr>
        <p:spPr>
          <a:xfrm rot="0">
            <a:off x="10934700" y="6515100"/>
            <a:ext cx="714374"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14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326" name="Rectangle"/>
          <p:cNvSpPr>
            <a:spLocks/>
          </p:cNvSpPr>
          <p:nvPr/>
        </p:nvSpPr>
        <p:spPr>
          <a:xfrm rot="0">
            <a:off x="542925" y="1562100"/>
            <a:ext cx="541972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Financial Calculations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27" name="Rectangle"/>
          <p:cNvSpPr>
            <a:spLocks/>
          </p:cNvSpPr>
          <p:nvPr/>
        </p:nvSpPr>
        <p:spPr>
          <a:xfrm rot="0">
            <a:off x="542925" y="1838325"/>
            <a:ext cx="5419725" cy="390525"/>
          </a:xfrm>
          <a:prstGeom prst="rect"/>
          <a:solidFill>
            <a:srgbClr val="F1F5F9"/>
          </a:solidFill>
          <a:ln w="9525" cmpd="sng" cap="flat">
            <a:noFill/>
            <a:prstDash val="solid"/>
            <a:round/>
          </a:ln>
        </p:spPr>
      </p:sp>
      <p:sp>
        <p:nvSpPr>
          <p:cNvPr id="328" name="Rectangle"/>
          <p:cNvSpPr>
            <a:spLocks/>
          </p:cNvSpPr>
          <p:nvPr/>
        </p:nvSpPr>
        <p:spPr>
          <a:xfrm rot="0">
            <a:off x="695325" y="1952625"/>
            <a:ext cx="5114925"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25" b="1" i="0" u="none" strike="noStrike" kern="1200" cap="none" spc="0" baseline="0">
                <a:solidFill>
                  <a:srgbClr val="0F172A"/>
                </a:solidFill>
                <a:latin typeface="Courier New" pitchFamily="0" charset="0"/>
                <a:ea typeface="宋体" pitchFamily="0" charset="0"/>
                <a:cs typeface="Calibri" pitchFamily="0" charset="0"/>
              </a:rPr>
              <a:t>Profit</a:t>
            </a:r>
            <a:r>
              <a:rPr lang="en-US" altLang="zh-CN" sz="1125" b="0" i="0" u="none" strike="noStrike" kern="1200" cap="none" spc="0" baseline="0">
                <a:solidFill>
                  <a:srgbClr val="0F172A"/>
                </a:solidFill>
                <a:latin typeface="Courier New" pitchFamily="0" charset="0"/>
                <a:ea typeface="宋体" pitchFamily="0" charset="0"/>
                <a:cs typeface="Calibri" pitchFamily="0" charset="0"/>
              </a:rPr>
              <a:t> = SUM([Revenue]) - SUM([Cost])</a:t>
            </a:r>
            <a:endParaRPr lang="zh-CN" altLang="en-US" sz="1125" b="0" i="0" u="none" strike="noStrike" kern="1200" cap="none" spc="0" baseline="0">
              <a:solidFill>
                <a:srgbClr val="0F172A"/>
              </a:solidFill>
              <a:latin typeface="Courier New" pitchFamily="0" charset="0"/>
              <a:ea typeface="宋体" pitchFamily="0" charset="0"/>
              <a:cs typeface="Calibri" pitchFamily="0" charset="0"/>
            </a:endParaRPr>
          </a:p>
        </p:txBody>
      </p:sp>
      <p:sp>
        <p:nvSpPr>
          <p:cNvPr id="329" name="Rectangle"/>
          <p:cNvSpPr>
            <a:spLocks/>
          </p:cNvSpPr>
          <p:nvPr/>
        </p:nvSpPr>
        <p:spPr>
          <a:xfrm rot="0">
            <a:off x="542925" y="1838325"/>
            <a:ext cx="38100" cy="390525"/>
          </a:xfrm>
          <a:prstGeom prst="rect"/>
          <a:solidFill>
            <a:srgbClr val="2563EB"/>
          </a:solidFill>
          <a:ln w="9525" cmpd="sng" cap="flat">
            <a:noFill/>
            <a:prstDash val="solid"/>
            <a:round/>
          </a:ln>
        </p:spPr>
      </p:sp>
      <p:sp>
        <p:nvSpPr>
          <p:cNvPr id="330" name="Rectangle"/>
          <p:cNvSpPr>
            <a:spLocks/>
          </p:cNvSpPr>
          <p:nvPr/>
        </p:nvSpPr>
        <p:spPr>
          <a:xfrm rot="0">
            <a:off x="542925" y="2343150"/>
            <a:ext cx="5419725" cy="185736"/>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462"/>
              </a:lnSpc>
              <a:spcBef>
                <a:spcPts val="0"/>
              </a:spcBef>
              <a:spcAft>
                <a:spcPts val="0"/>
              </a:spcAft>
              <a:buNone/>
            </a:pPr>
            <a:r>
              <a:rPr lang="en-US" altLang="zh-CN" sz="975" b="0" i="0" u="none" strike="noStrike" kern="1200" cap="none" spc="0" baseline="0">
                <a:solidFill>
                  <a:srgbClr val="64748B"/>
                </a:solidFill>
                <a:latin typeface="Inter" pitchFamily="0" charset="0"/>
                <a:ea typeface="宋体" pitchFamily="0" charset="0"/>
                <a:cs typeface="Calibri" pitchFamily="0" charset="0"/>
              </a:rPr>
              <a:t>Calculates absolute monetary profit for transactions and aggregated views.</a:t>
            </a:r>
            <a:endParaRPr lang="zh-CN" altLang="en-US" sz="975" b="0" i="0" u="none" strike="noStrike" kern="1200" cap="none" spc="0" baseline="0">
              <a:solidFill>
                <a:srgbClr val="64748B"/>
              </a:solidFill>
              <a:latin typeface="Inter" pitchFamily="0" charset="0"/>
              <a:ea typeface="宋体" pitchFamily="0" charset="0"/>
              <a:cs typeface="Calibri" pitchFamily="0" charset="0"/>
            </a:endParaRPr>
          </a:p>
        </p:txBody>
      </p:sp>
      <p:sp>
        <p:nvSpPr>
          <p:cNvPr id="331" name="Rectangle"/>
          <p:cNvSpPr>
            <a:spLocks/>
          </p:cNvSpPr>
          <p:nvPr/>
        </p:nvSpPr>
        <p:spPr>
          <a:xfrm rot="0">
            <a:off x="542925" y="2643187"/>
            <a:ext cx="5419725" cy="390525"/>
          </a:xfrm>
          <a:prstGeom prst="rect"/>
          <a:solidFill>
            <a:srgbClr val="F1F5F9"/>
          </a:solidFill>
          <a:ln w="9525" cmpd="sng" cap="flat">
            <a:noFill/>
            <a:prstDash val="solid"/>
            <a:round/>
          </a:ln>
        </p:spPr>
      </p:sp>
      <p:sp>
        <p:nvSpPr>
          <p:cNvPr id="332" name="Rectangle"/>
          <p:cNvSpPr>
            <a:spLocks/>
          </p:cNvSpPr>
          <p:nvPr/>
        </p:nvSpPr>
        <p:spPr>
          <a:xfrm rot="0">
            <a:off x="695325" y="2757487"/>
            <a:ext cx="5114925" cy="1619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25" b="1" i="0" u="none" strike="noStrike" kern="1200" cap="none" spc="0" baseline="0">
                <a:solidFill>
                  <a:srgbClr val="0F172A"/>
                </a:solidFill>
                <a:latin typeface="Courier New" pitchFamily="0" charset="0"/>
                <a:ea typeface="宋体" pitchFamily="0" charset="0"/>
                <a:cs typeface="Calibri" pitchFamily="0" charset="0"/>
              </a:rPr>
              <a:t>Profit Margin %</a:t>
            </a:r>
            <a:r>
              <a:rPr lang="en-US" altLang="zh-CN" sz="1125" b="0" i="0" u="none" strike="noStrike" kern="1200" cap="none" spc="0" baseline="0">
                <a:solidFill>
                  <a:srgbClr val="0F172A"/>
                </a:solidFill>
                <a:latin typeface="Courier New" pitchFamily="0" charset="0"/>
                <a:ea typeface="宋体" pitchFamily="0" charset="0"/>
                <a:cs typeface="Calibri" pitchFamily="0" charset="0"/>
              </a:rPr>
              <a:t> = SUM([Profit]) / SUM([Revenue])</a:t>
            </a:r>
            <a:endParaRPr lang="zh-CN" altLang="en-US" sz="1125" b="0" i="0" u="none" strike="noStrike" kern="1200" cap="none" spc="0" baseline="0">
              <a:solidFill>
                <a:srgbClr val="0F172A"/>
              </a:solidFill>
              <a:latin typeface="Courier New" pitchFamily="0" charset="0"/>
              <a:ea typeface="宋体" pitchFamily="0" charset="0"/>
              <a:cs typeface="Calibri" pitchFamily="0" charset="0"/>
            </a:endParaRPr>
          </a:p>
        </p:txBody>
      </p:sp>
      <p:sp>
        <p:nvSpPr>
          <p:cNvPr id="333" name="Rectangle"/>
          <p:cNvSpPr>
            <a:spLocks/>
          </p:cNvSpPr>
          <p:nvPr/>
        </p:nvSpPr>
        <p:spPr>
          <a:xfrm rot="0">
            <a:off x="542925" y="2643187"/>
            <a:ext cx="38100" cy="390525"/>
          </a:xfrm>
          <a:prstGeom prst="rect"/>
          <a:solidFill>
            <a:srgbClr val="2563EB"/>
          </a:solidFill>
          <a:ln w="9525" cmpd="sng" cap="flat">
            <a:noFill/>
            <a:prstDash val="solid"/>
            <a:round/>
          </a:ln>
        </p:spPr>
      </p:sp>
      <p:sp>
        <p:nvSpPr>
          <p:cNvPr id="334" name="Rectangle"/>
          <p:cNvSpPr>
            <a:spLocks/>
          </p:cNvSpPr>
          <p:nvPr/>
        </p:nvSpPr>
        <p:spPr>
          <a:xfrm rot="0">
            <a:off x="542925" y="3148012"/>
            <a:ext cx="5419725" cy="185736"/>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462"/>
              </a:lnSpc>
              <a:spcBef>
                <a:spcPts val="0"/>
              </a:spcBef>
              <a:spcAft>
                <a:spcPts val="0"/>
              </a:spcAft>
              <a:buNone/>
            </a:pPr>
            <a:r>
              <a:rPr lang="en-US" altLang="zh-CN" sz="975" b="0" i="0" u="none" strike="noStrike" kern="1200" cap="none" spc="0" baseline="0">
                <a:solidFill>
                  <a:srgbClr val="64748B"/>
                </a:solidFill>
                <a:latin typeface="Inter" pitchFamily="0" charset="0"/>
                <a:ea typeface="宋体" pitchFamily="0" charset="0"/>
                <a:cs typeface="Calibri" pitchFamily="0" charset="0"/>
              </a:rPr>
              <a:t>Measures percentage efficiency of revenue converted into profit.</a:t>
            </a:r>
            <a:endParaRPr lang="zh-CN" altLang="en-US" sz="975" b="0" i="0" u="none" strike="noStrike" kern="1200" cap="none" spc="0" baseline="0">
              <a:solidFill>
                <a:srgbClr val="64748B"/>
              </a:solidFill>
              <a:latin typeface="Inter" pitchFamily="0" charset="0"/>
              <a:ea typeface="宋体" pitchFamily="0" charset="0"/>
              <a:cs typeface="Calibri" pitchFamily="0" charset="0"/>
            </a:endParaRPr>
          </a:p>
        </p:txBody>
      </p:sp>
      <p:sp>
        <p:nvSpPr>
          <p:cNvPr id="335" name="Rectangle"/>
          <p:cNvSpPr>
            <a:spLocks/>
          </p:cNvSpPr>
          <p:nvPr/>
        </p:nvSpPr>
        <p:spPr>
          <a:xfrm rot="0">
            <a:off x="6229350" y="1562100"/>
            <a:ext cx="541972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Customer Calculations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36" name="Rectangle"/>
          <p:cNvSpPr>
            <a:spLocks/>
          </p:cNvSpPr>
          <p:nvPr/>
        </p:nvSpPr>
        <p:spPr>
          <a:xfrm rot="0">
            <a:off x="6229350" y="1838325"/>
            <a:ext cx="5419724" cy="390525"/>
          </a:xfrm>
          <a:prstGeom prst="rect"/>
          <a:solidFill>
            <a:srgbClr val="F1F5F9"/>
          </a:solidFill>
          <a:ln w="9525" cmpd="sng" cap="flat">
            <a:noFill/>
            <a:prstDash val="solid"/>
            <a:round/>
          </a:ln>
        </p:spPr>
      </p:sp>
      <p:sp>
        <p:nvSpPr>
          <p:cNvPr id="337" name="Rectangle"/>
          <p:cNvSpPr>
            <a:spLocks/>
          </p:cNvSpPr>
          <p:nvPr/>
        </p:nvSpPr>
        <p:spPr>
          <a:xfrm rot="0">
            <a:off x="6381750" y="1952625"/>
            <a:ext cx="5114925" cy="1619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25" b="1" i="0" u="none" strike="noStrike" kern="1200" cap="none" spc="0" baseline="0">
                <a:solidFill>
                  <a:srgbClr val="0F172A"/>
                </a:solidFill>
                <a:latin typeface="Courier New" pitchFamily="0" charset="0"/>
                <a:ea typeface="宋体" pitchFamily="0" charset="0"/>
                <a:cs typeface="Calibri" pitchFamily="0" charset="0"/>
              </a:rPr>
              <a:t>Total Customers</a:t>
            </a:r>
            <a:r>
              <a:rPr lang="en-US" altLang="zh-CN" sz="1125" b="0" i="0" u="none" strike="noStrike" kern="1200" cap="none" spc="0" baseline="0">
                <a:solidFill>
                  <a:srgbClr val="0F172A"/>
                </a:solidFill>
                <a:latin typeface="Courier New" pitchFamily="0" charset="0"/>
                <a:ea typeface="宋体" pitchFamily="0" charset="0"/>
                <a:cs typeface="Calibri" pitchFamily="0" charset="0"/>
              </a:rPr>
              <a:t> = COUNTD([Customer ID])</a:t>
            </a:r>
            <a:endParaRPr lang="zh-CN" altLang="en-US" sz="1125" b="0" i="0" u="none" strike="noStrike" kern="1200" cap="none" spc="0" baseline="0">
              <a:solidFill>
                <a:srgbClr val="0F172A"/>
              </a:solidFill>
              <a:latin typeface="Courier New" pitchFamily="0" charset="0"/>
              <a:ea typeface="宋体" pitchFamily="0" charset="0"/>
              <a:cs typeface="Calibri" pitchFamily="0" charset="0"/>
            </a:endParaRPr>
          </a:p>
        </p:txBody>
      </p:sp>
      <p:sp>
        <p:nvSpPr>
          <p:cNvPr id="338" name="Rectangle"/>
          <p:cNvSpPr>
            <a:spLocks/>
          </p:cNvSpPr>
          <p:nvPr/>
        </p:nvSpPr>
        <p:spPr>
          <a:xfrm rot="0">
            <a:off x="6229350" y="1838325"/>
            <a:ext cx="38100" cy="390525"/>
          </a:xfrm>
          <a:prstGeom prst="rect"/>
          <a:solidFill>
            <a:srgbClr val="2563EB"/>
          </a:solidFill>
          <a:ln w="9525" cmpd="sng" cap="flat">
            <a:noFill/>
            <a:prstDash val="solid"/>
            <a:round/>
          </a:ln>
        </p:spPr>
      </p:sp>
      <p:sp>
        <p:nvSpPr>
          <p:cNvPr id="339" name="Rectangle"/>
          <p:cNvSpPr>
            <a:spLocks/>
          </p:cNvSpPr>
          <p:nvPr/>
        </p:nvSpPr>
        <p:spPr>
          <a:xfrm rot="0">
            <a:off x="6229350" y="2343150"/>
            <a:ext cx="5419724" cy="185736"/>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462"/>
              </a:lnSpc>
              <a:spcBef>
                <a:spcPts val="0"/>
              </a:spcBef>
              <a:spcAft>
                <a:spcPts val="0"/>
              </a:spcAft>
              <a:buNone/>
            </a:pPr>
            <a:r>
              <a:rPr lang="en-US" altLang="zh-CN" sz="975" b="0" i="0" u="none" strike="noStrike" kern="1200" cap="none" spc="0" baseline="0">
                <a:solidFill>
                  <a:srgbClr val="64748B"/>
                </a:solidFill>
                <a:latin typeface="Inter" pitchFamily="0" charset="0"/>
                <a:ea typeface="宋体" pitchFamily="0" charset="0"/>
                <a:cs typeface="Calibri" pitchFamily="0" charset="0"/>
              </a:rPr>
              <a:t>Counts distinct individual customer IDs to avoid double counting.</a:t>
            </a:r>
            <a:endParaRPr lang="zh-CN" altLang="en-US" sz="975" b="0" i="0" u="none" strike="noStrike" kern="1200" cap="none" spc="0" baseline="0">
              <a:solidFill>
                <a:srgbClr val="64748B"/>
              </a:solidFill>
              <a:latin typeface="Inter" pitchFamily="0" charset="0"/>
              <a:ea typeface="宋体" pitchFamily="0" charset="0"/>
              <a:cs typeface="Calibri" pitchFamily="0" charset="0"/>
            </a:endParaRPr>
          </a:p>
        </p:txBody>
      </p:sp>
      <p:sp>
        <p:nvSpPr>
          <p:cNvPr id="340" name="Rectangle"/>
          <p:cNvSpPr>
            <a:spLocks/>
          </p:cNvSpPr>
          <p:nvPr/>
        </p:nvSpPr>
        <p:spPr>
          <a:xfrm rot="0">
            <a:off x="6229350" y="2643187"/>
            <a:ext cx="5419724" cy="390525"/>
          </a:xfrm>
          <a:prstGeom prst="rect"/>
          <a:solidFill>
            <a:srgbClr val="F1F5F9"/>
          </a:solidFill>
          <a:ln w="9525" cmpd="sng" cap="flat">
            <a:noFill/>
            <a:prstDash val="solid"/>
            <a:round/>
          </a:ln>
        </p:spPr>
      </p:sp>
      <p:sp>
        <p:nvSpPr>
          <p:cNvPr id="341" name="Rectangle"/>
          <p:cNvSpPr>
            <a:spLocks/>
          </p:cNvSpPr>
          <p:nvPr/>
        </p:nvSpPr>
        <p:spPr>
          <a:xfrm rot="0">
            <a:off x="6381750" y="2757487"/>
            <a:ext cx="5114925" cy="1619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125" b="1" i="0" u="none" strike="noStrike" kern="1200" cap="none" spc="0" baseline="0">
                <a:solidFill>
                  <a:srgbClr val="0F172A"/>
                </a:solidFill>
                <a:latin typeface="Courier New" pitchFamily="0" charset="0"/>
                <a:ea typeface="宋体" pitchFamily="0" charset="0"/>
                <a:cs typeface="Calibri" pitchFamily="0" charset="0"/>
              </a:rPr>
              <a:t>Churn Rate %</a:t>
            </a:r>
            <a:r>
              <a:rPr lang="en-US" altLang="zh-CN" sz="1125" b="0" i="0" u="none" strike="noStrike" kern="1200" cap="none" spc="0" baseline="0">
                <a:solidFill>
                  <a:srgbClr val="0F172A"/>
                </a:solidFill>
                <a:latin typeface="Courier New" pitchFamily="0" charset="0"/>
                <a:ea typeface="宋体" pitchFamily="0" charset="0"/>
                <a:cs typeface="Calibri" pitchFamily="0" charset="0"/>
              </a:rPr>
              <a:t> = [Churned Customers] / [Total Customers]</a:t>
            </a:r>
            <a:endParaRPr lang="zh-CN" altLang="en-US" sz="1125" b="0" i="0" u="none" strike="noStrike" kern="1200" cap="none" spc="0" baseline="0">
              <a:solidFill>
                <a:srgbClr val="0F172A"/>
              </a:solidFill>
              <a:latin typeface="Courier New" pitchFamily="0" charset="0"/>
              <a:ea typeface="宋体" pitchFamily="0" charset="0"/>
              <a:cs typeface="Calibri" pitchFamily="0" charset="0"/>
            </a:endParaRPr>
          </a:p>
        </p:txBody>
      </p:sp>
      <p:sp>
        <p:nvSpPr>
          <p:cNvPr id="342" name="Rectangle"/>
          <p:cNvSpPr>
            <a:spLocks/>
          </p:cNvSpPr>
          <p:nvPr/>
        </p:nvSpPr>
        <p:spPr>
          <a:xfrm rot="0">
            <a:off x="6229350" y="2643187"/>
            <a:ext cx="38100" cy="390525"/>
          </a:xfrm>
          <a:prstGeom prst="rect"/>
          <a:solidFill>
            <a:srgbClr val="2563EB"/>
          </a:solidFill>
          <a:ln w="9525" cmpd="sng" cap="flat">
            <a:noFill/>
            <a:prstDash val="solid"/>
            <a:round/>
          </a:ln>
        </p:spPr>
      </p:sp>
      <p:sp>
        <p:nvSpPr>
          <p:cNvPr id="343" name="Rectangle"/>
          <p:cNvSpPr>
            <a:spLocks/>
          </p:cNvSpPr>
          <p:nvPr/>
        </p:nvSpPr>
        <p:spPr>
          <a:xfrm rot="0">
            <a:off x="6229350" y="3148012"/>
            <a:ext cx="5419724" cy="185736"/>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462"/>
              </a:lnSpc>
              <a:spcBef>
                <a:spcPts val="0"/>
              </a:spcBef>
              <a:spcAft>
                <a:spcPts val="0"/>
              </a:spcAft>
              <a:buNone/>
            </a:pPr>
            <a:r>
              <a:rPr lang="en-US" altLang="zh-CN" sz="975" b="0" i="0" u="none" strike="noStrike" kern="1200" cap="none" spc="0" baseline="0">
                <a:solidFill>
                  <a:srgbClr val="64748B"/>
                </a:solidFill>
                <a:latin typeface="Inter" pitchFamily="0" charset="0"/>
                <a:ea typeface="宋体" pitchFamily="0" charset="0"/>
                <a:cs typeface="Calibri" pitchFamily="0" charset="0"/>
              </a:rPr>
              <a:t>Calculates the proportion of lost customers relative to total customer base.</a:t>
            </a:r>
            <a:endParaRPr lang="zh-CN" altLang="en-US" sz="975" b="0" i="0" u="none" strike="noStrike" kern="1200" cap="none" spc="0" baseline="0">
              <a:solidFill>
                <a:srgbClr val="64748B"/>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894199458"/>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344"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345"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346" name="Image" descr="image.png"/>
          <p:cNvPicPr>
            <a:picLocks noChangeAspect="1"/>
          </p:cNvPicPr>
          <p:nvPr/>
        </p:nvPicPr>
        <p:blipFill>
          <a:blip r:embed="rId3" cstate="print"/>
          <a:stretch>
            <a:fillRect/>
          </a:stretch>
        </p:blipFill>
        <p:spPr>
          <a:xfrm rot="0">
            <a:off x="6229350" y="1181100"/>
            <a:ext cx="5419724" cy="2828924"/>
          </a:xfrm>
          <a:prstGeom prst="rect"/>
          <a:noFill/>
          <a:ln w="12700" cmpd="sng" cap="flat">
            <a:noFill/>
            <a:prstDash val="solid"/>
            <a:miter/>
          </a:ln>
        </p:spPr>
      </p:pic>
      <p:sp>
        <p:nvSpPr>
          <p:cNvPr id="347"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Tableau Workspace Overview</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348" name="Rectangle"/>
          <p:cNvSpPr>
            <a:spLocks/>
          </p:cNvSpPr>
          <p:nvPr/>
        </p:nvSpPr>
        <p:spPr>
          <a:xfrm rot="0">
            <a:off x="542925" y="933450"/>
            <a:ext cx="11106150" cy="19050"/>
          </a:xfrm>
          <a:prstGeom prst="rect"/>
          <a:solidFill>
            <a:srgbClr val="E2E8F0"/>
          </a:solidFill>
          <a:ln w="9525" cmpd="sng" cap="flat">
            <a:noFill/>
            <a:prstDash val="solid"/>
            <a:round/>
          </a:ln>
        </p:spPr>
      </p:sp>
      <p:sp>
        <p:nvSpPr>
          <p:cNvPr id="350"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15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pic>
        <p:nvPicPr>
          <p:cNvPr id="351" name="Image" descr="image.png"/>
          <p:cNvPicPr>
            <a:picLocks noChangeAspect="1"/>
          </p:cNvPicPr>
          <p:nvPr/>
        </p:nvPicPr>
        <p:blipFill>
          <a:blip r:embed="rId4" cstate="print"/>
          <a:stretch>
            <a:fillRect/>
          </a:stretch>
        </p:blipFill>
        <p:spPr>
          <a:xfrm rot="0">
            <a:off x="552450" y="1190625"/>
            <a:ext cx="5400675" cy="3981450"/>
          </a:xfrm>
          <a:prstGeom prst="rect"/>
          <a:noFill/>
          <a:ln w="12700" cmpd="sng" cap="flat">
            <a:noFill/>
            <a:prstDash val="solid"/>
            <a:miter/>
          </a:ln>
        </p:spPr>
      </p:pic>
      <p:sp>
        <p:nvSpPr>
          <p:cNvPr id="352"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Tableau Working Environment</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53" name="Rectangle"/>
          <p:cNvSpPr>
            <a:spLocks/>
          </p:cNvSpPr>
          <p:nvPr/>
        </p:nvSpPr>
        <p:spPr>
          <a:xfrm rot="0">
            <a:off x="6429375" y="1657350"/>
            <a:ext cx="5019674" cy="2000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The screenshot shows the Tableau workspace used during the project.</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354" name="Rectangle"/>
          <p:cNvSpPr>
            <a:spLocks/>
          </p:cNvSpPr>
          <p:nvPr/>
        </p:nvSpPr>
        <p:spPr>
          <a:xfrm rot="0">
            <a:off x="6562725" y="21526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55" name="Rectangle"/>
          <p:cNvSpPr>
            <a:spLocks/>
          </p:cNvSpPr>
          <p:nvPr/>
        </p:nvSpPr>
        <p:spPr>
          <a:xfrm rot="0">
            <a:off x="6619874" y="21526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Data Pane: Contains the fields used for the analysis.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56" name="Rectangle"/>
          <p:cNvSpPr>
            <a:spLocks/>
          </p:cNvSpPr>
          <p:nvPr/>
        </p:nvSpPr>
        <p:spPr>
          <a:xfrm rot="0">
            <a:off x="6562725" y="27051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57" name="Rectangle"/>
          <p:cNvSpPr>
            <a:spLocks/>
          </p:cNvSpPr>
          <p:nvPr/>
        </p:nvSpPr>
        <p:spPr>
          <a:xfrm rot="0">
            <a:off x="6619874" y="27051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Worksheet Tabs: Show the individual sheets created for the analysis.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58" name="Rectangle"/>
          <p:cNvSpPr>
            <a:spLocks/>
          </p:cNvSpPr>
          <p:nvPr/>
        </p:nvSpPr>
        <p:spPr>
          <a:xfrm rot="0">
            <a:off x="6562725" y="32575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59" name="Rectangle"/>
          <p:cNvSpPr>
            <a:spLocks/>
          </p:cNvSpPr>
          <p:nvPr/>
        </p:nvSpPr>
        <p:spPr>
          <a:xfrm rot="0">
            <a:off x="6619874" y="32575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Canvas Area: Used to arrange charts and build the dashboards.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pic>
        <p:nvPicPr>
          <p:cNvPr id="360" name="Image" descr="24049.png"/>
          <p:cNvPicPr>
            <a:picLocks noChangeAspect="1"/>
          </p:cNvPicPr>
          <p:nvPr/>
        </p:nvPicPr>
        <p:blipFill>
          <a:blip r:embed="rId5" cstate="print"/>
          <a:stretch>
            <a:fillRect/>
          </a:stretch>
        </p:blipFill>
        <p:spPr>
          <a:xfrm rot="0">
            <a:off x="542925" y="1181100"/>
            <a:ext cx="5419725" cy="4000500"/>
          </a:xfrm>
          <a:prstGeom prst="rect"/>
          <a:noFill/>
          <a:ln w="12700" cmpd="sng" cap="flat">
            <a:noFill/>
            <a:prstDash val="solid"/>
            <a:miter/>
          </a:ln>
        </p:spPr>
      </p:pic>
    </p:spTree>
    <p:extLst>
      <p:ext uri="{BB962C8B-B14F-4D97-AF65-F5344CB8AC3E}">
        <p14:creationId xmlns:p14="http://schemas.microsoft.com/office/powerpoint/2010/main" val="696613798"/>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361"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362"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363" name="Image" descr="image.png"/>
          <p:cNvPicPr>
            <a:picLocks noChangeAspect="1"/>
          </p:cNvPicPr>
          <p:nvPr/>
        </p:nvPicPr>
        <p:blipFill>
          <a:blip r:embed="rId3" cstate="print"/>
          <a:stretch>
            <a:fillRect/>
          </a:stretch>
        </p:blipFill>
        <p:spPr>
          <a:xfrm rot="0">
            <a:off x="6229350" y="1181100"/>
            <a:ext cx="5419724" cy="3400425"/>
          </a:xfrm>
          <a:prstGeom prst="rect"/>
          <a:noFill/>
          <a:ln w="12700" cmpd="sng" cap="flat">
            <a:noFill/>
            <a:prstDash val="solid"/>
            <a:miter/>
          </a:ln>
        </p:spPr>
      </p:pic>
      <p:sp>
        <p:nvSpPr>
          <p:cNvPr id="364"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Individual Tableau Worksheets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365" name="Rectangle"/>
          <p:cNvSpPr>
            <a:spLocks/>
          </p:cNvSpPr>
          <p:nvPr/>
        </p:nvSpPr>
        <p:spPr>
          <a:xfrm rot="0">
            <a:off x="542925" y="933450"/>
            <a:ext cx="11106150" cy="19050"/>
          </a:xfrm>
          <a:prstGeom prst="rect"/>
          <a:solidFill>
            <a:srgbClr val="E2E8F0"/>
          </a:solidFill>
          <a:ln w="9525" cmpd="sng" cap="flat">
            <a:noFill/>
            <a:prstDash val="solid"/>
            <a:round/>
          </a:ln>
        </p:spPr>
      </p:sp>
      <p:sp>
        <p:nvSpPr>
          <p:cNvPr id="367"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16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pic>
        <p:nvPicPr>
          <p:cNvPr id="368" name="Image" descr="image.png"/>
          <p:cNvPicPr>
            <a:picLocks noChangeAspect="1"/>
          </p:cNvPicPr>
          <p:nvPr/>
        </p:nvPicPr>
        <p:blipFill>
          <a:blip r:embed="rId4" cstate="print"/>
          <a:stretch>
            <a:fillRect/>
          </a:stretch>
        </p:blipFill>
        <p:spPr>
          <a:xfrm rot="0">
            <a:off x="552450" y="1190625"/>
            <a:ext cx="5400675" cy="3981450"/>
          </a:xfrm>
          <a:prstGeom prst="rect"/>
          <a:noFill/>
          <a:ln w="12700" cmpd="sng" cap="flat">
            <a:noFill/>
            <a:prstDash val="solid"/>
            <a:miter/>
          </a:ln>
        </p:spPr>
      </p:pic>
      <p:sp>
        <p:nvSpPr>
          <p:cNvPr id="369"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Worksheet Building Process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70" name="Rectangle"/>
          <p:cNvSpPr>
            <a:spLocks/>
          </p:cNvSpPr>
          <p:nvPr/>
        </p:nvSpPr>
        <p:spPr>
          <a:xfrm rot="0">
            <a:off x="6429375" y="1657350"/>
            <a:ext cx="5019674" cy="2000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Worksheets were created first and then combined to form the dashboards.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371" name="Rectangle"/>
          <p:cNvSpPr>
            <a:spLocks/>
          </p:cNvSpPr>
          <p:nvPr/>
        </p:nvSpPr>
        <p:spPr>
          <a:xfrm rot="0">
            <a:off x="6562725" y="21717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72" name="Rectangle"/>
          <p:cNvSpPr>
            <a:spLocks/>
          </p:cNvSpPr>
          <p:nvPr/>
        </p:nvSpPr>
        <p:spPr>
          <a:xfrm rot="0">
            <a:off x="6619874" y="217170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Revenue analysis worksheet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73" name="Rectangle"/>
          <p:cNvSpPr>
            <a:spLocks/>
          </p:cNvSpPr>
          <p:nvPr/>
        </p:nvSpPr>
        <p:spPr>
          <a:xfrm rot="0">
            <a:off x="6562725" y="27241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74" name="Rectangle"/>
          <p:cNvSpPr>
            <a:spLocks/>
          </p:cNvSpPr>
          <p:nvPr/>
        </p:nvSpPr>
        <p:spPr>
          <a:xfrm rot="0">
            <a:off x="6619874" y="27241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Product performance worksheet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75" name="Rectangle"/>
          <p:cNvSpPr>
            <a:spLocks/>
          </p:cNvSpPr>
          <p:nvPr/>
        </p:nvSpPr>
        <p:spPr>
          <a:xfrm rot="0">
            <a:off x="6562725" y="32766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76" name="Rectangle"/>
          <p:cNvSpPr>
            <a:spLocks/>
          </p:cNvSpPr>
          <p:nvPr/>
        </p:nvSpPr>
        <p:spPr>
          <a:xfrm rot="0">
            <a:off x="6619874" y="327660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Category financial performance worksheet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77" name="Rectangle"/>
          <p:cNvSpPr>
            <a:spLocks/>
          </p:cNvSpPr>
          <p:nvPr/>
        </p:nvSpPr>
        <p:spPr>
          <a:xfrm rot="0">
            <a:off x="6562725" y="38290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378" name="Rectangle"/>
          <p:cNvSpPr>
            <a:spLocks/>
          </p:cNvSpPr>
          <p:nvPr/>
        </p:nvSpPr>
        <p:spPr>
          <a:xfrm rot="0">
            <a:off x="6619874" y="38290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Regional profitability worksheet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pic>
        <p:nvPicPr>
          <p:cNvPr id="379" name="Image" descr="24048.png"/>
          <p:cNvPicPr>
            <a:picLocks noChangeAspect="1"/>
          </p:cNvPicPr>
          <p:nvPr/>
        </p:nvPicPr>
        <p:blipFill>
          <a:blip r:embed="rId5" cstate="print"/>
          <a:stretch>
            <a:fillRect/>
          </a:stretch>
        </p:blipFill>
        <p:spPr>
          <a:xfrm rot="0">
            <a:off x="542925" y="1181100"/>
            <a:ext cx="5419725" cy="4000500"/>
          </a:xfrm>
          <a:prstGeom prst="rect"/>
          <a:noFill/>
          <a:ln w="12700" cmpd="sng" cap="flat">
            <a:noFill/>
            <a:prstDash val="solid"/>
            <a:miter/>
          </a:ln>
        </p:spPr>
      </p:pic>
    </p:spTree>
    <p:extLst>
      <p:ext uri="{BB962C8B-B14F-4D97-AF65-F5344CB8AC3E}">
        <p14:creationId xmlns:p14="http://schemas.microsoft.com/office/powerpoint/2010/main" val="1095434642"/>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380"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381"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sp>
        <p:nvSpPr>
          <p:cNvPr id="382"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Dashboard 1: Sales &amp; Customer Performance</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383" name="Rectangle"/>
          <p:cNvSpPr>
            <a:spLocks/>
          </p:cNvSpPr>
          <p:nvPr/>
        </p:nvSpPr>
        <p:spPr>
          <a:xfrm rot="0">
            <a:off x="542925" y="933450"/>
            <a:ext cx="11106150" cy="19050"/>
          </a:xfrm>
          <a:prstGeom prst="rect"/>
          <a:solidFill>
            <a:srgbClr val="E2E8F0"/>
          </a:solidFill>
          <a:ln w="9525" cmpd="sng" cap="flat">
            <a:noFill/>
            <a:prstDash val="solid"/>
            <a:round/>
          </a:ln>
        </p:spPr>
      </p:sp>
      <p:sp>
        <p:nvSpPr>
          <p:cNvPr id="385"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17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pic>
        <p:nvPicPr>
          <p:cNvPr id="386" name="Image" descr="image.png"/>
          <p:cNvPicPr>
            <a:picLocks noChangeAspect="1"/>
          </p:cNvPicPr>
          <p:nvPr/>
        </p:nvPicPr>
        <p:blipFill>
          <a:blip r:embed="rId3" cstate="print"/>
          <a:stretch>
            <a:fillRect/>
          </a:stretch>
        </p:blipFill>
        <p:spPr>
          <a:xfrm rot="0">
            <a:off x="552450" y="1190625"/>
            <a:ext cx="11087100" cy="4552950"/>
          </a:xfrm>
          <a:prstGeom prst="rect"/>
          <a:noFill/>
          <a:ln w="12700" cmpd="sng" cap="flat">
            <a:noFill/>
            <a:prstDash val="solid"/>
            <a:miter/>
          </a:ln>
        </p:spPr>
      </p:pic>
      <p:pic>
        <p:nvPicPr>
          <p:cNvPr id="387" name="Image" descr="24049.png"/>
          <p:cNvPicPr>
            <a:picLocks noChangeAspect="1"/>
          </p:cNvPicPr>
          <p:nvPr/>
        </p:nvPicPr>
        <p:blipFill>
          <a:blip r:embed="rId4" cstate="print"/>
          <a:stretch>
            <a:fillRect/>
          </a:stretch>
        </p:blipFill>
        <p:spPr>
          <a:xfrm rot="0">
            <a:off x="542925" y="1181100"/>
            <a:ext cx="11106150" cy="2249424"/>
          </a:xfrm>
          <a:prstGeom prst="rect"/>
          <a:noFill/>
          <a:ln w="12700" cmpd="sng" cap="flat">
            <a:noFill/>
            <a:prstDash val="solid"/>
            <a:miter/>
          </a:ln>
        </p:spPr>
      </p:pic>
      <p:pic>
        <p:nvPicPr>
          <p:cNvPr id="388" name="Image" descr="24048.png"/>
          <p:cNvPicPr>
            <a:picLocks noChangeAspect="1"/>
          </p:cNvPicPr>
          <p:nvPr/>
        </p:nvPicPr>
        <p:blipFill>
          <a:blip r:embed="rId5" cstate="print"/>
          <a:stretch>
            <a:fillRect/>
          </a:stretch>
        </p:blipFill>
        <p:spPr>
          <a:xfrm rot="0">
            <a:off x="542925" y="3503676"/>
            <a:ext cx="11106150" cy="2249423"/>
          </a:xfrm>
          <a:prstGeom prst="rect"/>
          <a:noFill/>
          <a:ln w="12700" cmpd="sng" cap="flat">
            <a:noFill/>
            <a:prstDash val="solid"/>
            <a:miter/>
          </a:ln>
        </p:spPr>
      </p:pic>
    </p:spTree>
    <p:extLst>
      <p:ext uri="{BB962C8B-B14F-4D97-AF65-F5344CB8AC3E}">
        <p14:creationId xmlns:p14="http://schemas.microsoft.com/office/powerpoint/2010/main" val="1829253607"/>
      </p:ext>
    </p:extLst>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389"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390"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391" name="Image" descr="image.png"/>
          <p:cNvPicPr>
            <a:picLocks noChangeAspect="1"/>
          </p:cNvPicPr>
          <p:nvPr/>
        </p:nvPicPr>
        <p:blipFill>
          <a:blip r:embed="rId3" cstate="print"/>
          <a:stretch>
            <a:fillRect/>
          </a:stretch>
        </p:blipFill>
        <p:spPr>
          <a:xfrm rot="0">
            <a:off x="542925" y="1181100"/>
            <a:ext cx="5419725" cy="2886075"/>
          </a:xfrm>
          <a:prstGeom prst="rect"/>
          <a:noFill/>
          <a:ln w="12700" cmpd="sng" cap="flat">
            <a:noFill/>
            <a:prstDash val="solid"/>
            <a:miter/>
          </a:ln>
        </p:spPr>
      </p:pic>
      <p:pic>
        <p:nvPicPr>
          <p:cNvPr id="392" name="Image" descr="image.png"/>
          <p:cNvPicPr>
            <a:picLocks noChangeAspect="1"/>
          </p:cNvPicPr>
          <p:nvPr/>
        </p:nvPicPr>
        <p:blipFill>
          <a:blip r:embed="rId4" cstate="print"/>
          <a:stretch>
            <a:fillRect/>
          </a:stretch>
        </p:blipFill>
        <p:spPr>
          <a:xfrm rot="0">
            <a:off x="6229350" y="1181100"/>
            <a:ext cx="5419724" cy="2886075"/>
          </a:xfrm>
          <a:prstGeom prst="rect"/>
          <a:noFill/>
          <a:ln w="12700" cmpd="sng" cap="flat">
            <a:noFill/>
            <a:prstDash val="solid"/>
            <a:miter/>
          </a:ln>
        </p:spPr>
      </p:pic>
      <p:sp>
        <p:nvSpPr>
          <p:cNvPr id="393"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Dashboard 1: Component Breakdown</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394" name="Rectangle"/>
          <p:cNvSpPr>
            <a:spLocks/>
          </p:cNvSpPr>
          <p:nvPr/>
        </p:nvSpPr>
        <p:spPr>
          <a:xfrm rot="0">
            <a:off x="542925" y="933450"/>
            <a:ext cx="11106150" cy="19050"/>
          </a:xfrm>
          <a:prstGeom prst="rect"/>
          <a:solidFill>
            <a:srgbClr val="E2E8F0"/>
          </a:solidFill>
          <a:ln w="9525" cmpd="sng" cap="flat">
            <a:noFill/>
            <a:prstDash val="solid"/>
            <a:round/>
          </a:ln>
        </p:spPr>
      </p:sp>
      <p:sp>
        <p:nvSpPr>
          <p:cNvPr id="396"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18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397" name="Rectangle"/>
          <p:cNvSpPr>
            <a:spLocks/>
          </p:cNvSpPr>
          <p:nvPr/>
        </p:nvSpPr>
        <p:spPr>
          <a:xfrm rot="0">
            <a:off x="742949" y="1381124"/>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Summary KPI Cards (Top Banner)</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398" name="Rectangle"/>
          <p:cNvSpPr>
            <a:spLocks/>
          </p:cNvSpPr>
          <p:nvPr/>
        </p:nvSpPr>
        <p:spPr>
          <a:xfrm rot="0">
            <a:off x="742949" y="1657350"/>
            <a:ext cx="5019675" cy="20002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Displays headline metrics across the business: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399"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Visual Chart Elements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400" name="Rectangle"/>
          <p:cNvSpPr>
            <a:spLocks/>
          </p:cNvSpPr>
          <p:nvPr/>
        </p:nvSpPr>
        <p:spPr>
          <a:xfrm rot="0">
            <a:off x="876299" y="19145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1" name="Rectangle"/>
          <p:cNvSpPr>
            <a:spLocks/>
          </p:cNvSpPr>
          <p:nvPr/>
        </p:nvSpPr>
        <p:spPr>
          <a:xfrm rot="0">
            <a:off x="933450" y="191452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Revenue: Displays revenue in the dashboard.</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2" name="Rectangle"/>
          <p:cNvSpPr>
            <a:spLocks/>
          </p:cNvSpPr>
          <p:nvPr/>
        </p:nvSpPr>
        <p:spPr>
          <a:xfrm rot="0">
            <a:off x="876299" y="22383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3" name="Rectangle"/>
          <p:cNvSpPr>
            <a:spLocks/>
          </p:cNvSpPr>
          <p:nvPr/>
        </p:nvSpPr>
        <p:spPr>
          <a:xfrm rot="0">
            <a:off x="933450" y="223837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Cost: Displays cost in the dashboard.</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4" name="Rectangle"/>
          <p:cNvSpPr>
            <a:spLocks/>
          </p:cNvSpPr>
          <p:nvPr/>
        </p:nvSpPr>
        <p:spPr>
          <a:xfrm rot="0">
            <a:off x="876299" y="25622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5" name="Rectangle"/>
          <p:cNvSpPr>
            <a:spLocks/>
          </p:cNvSpPr>
          <p:nvPr/>
        </p:nvSpPr>
        <p:spPr>
          <a:xfrm rot="0">
            <a:off x="933450" y="256222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Customers:</a:t>
            </a:r>
            <a:r>
              <a:rPr lang="en-US" altLang="zh-CN" sz="1200" b="0" i="0" u="none" strike="noStrike" kern="1200" cap="none" spc="0" baseline="0">
                <a:solidFill>
                  <a:srgbClr val="334155"/>
                </a:solidFill>
                <a:latin typeface="Inter" pitchFamily="0" charset="0"/>
                <a:ea typeface="宋体" pitchFamily="0" charset="0"/>
                <a:cs typeface="Calibri" pitchFamily="0" charset="0"/>
              </a:rPr>
              <a:t> Total distinct customer count (441).</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6" name="Rectangle"/>
          <p:cNvSpPr>
            <a:spLocks/>
          </p:cNvSpPr>
          <p:nvPr/>
        </p:nvSpPr>
        <p:spPr>
          <a:xfrm rot="0">
            <a:off x="876299" y="28860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7" name="Rectangle"/>
          <p:cNvSpPr>
            <a:spLocks/>
          </p:cNvSpPr>
          <p:nvPr/>
        </p:nvSpPr>
        <p:spPr>
          <a:xfrm rot="0">
            <a:off x="933450" y="288607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Profit: Displays profit in the dashboard.</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8" name="Rectangle"/>
          <p:cNvSpPr>
            <a:spLocks/>
          </p:cNvSpPr>
          <p:nvPr/>
        </p:nvSpPr>
        <p:spPr>
          <a:xfrm rot="0">
            <a:off x="876299" y="3209924"/>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09" name="Rectangle"/>
          <p:cNvSpPr>
            <a:spLocks/>
          </p:cNvSpPr>
          <p:nvPr/>
        </p:nvSpPr>
        <p:spPr>
          <a:xfrm rot="0">
            <a:off x="933450" y="3209924"/>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Churn Rate:</a:t>
            </a:r>
            <a:r>
              <a:rPr lang="en-US" altLang="zh-CN" sz="1200" b="0" i="0" u="none" strike="noStrike" kern="1200" cap="none" spc="0" baseline="0">
                <a:solidFill>
                  <a:srgbClr val="334155"/>
                </a:solidFill>
                <a:latin typeface="Inter" pitchFamily="0" charset="0"/>
                <a:ea typeface="宋体" pitchFamily="0" charset="0"/>
                <a:cs typeface="Calibri" pitchFamily="0" charset="0"/>
              </a:rPr>
              <a:t> Percentage of churned customers (20.18%).</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0" name="Rectangle"/>
          <p:cNvSpPr>
            <a:spLocks/>
          </p:cNvSpPr>
          <p:nvPr/>
        </p:nvSpPr>
        <p:spPr>
          <a:xfrm rot="0">
            <a:off x="6562725"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1" name="Rectangle"/>
          <p:cNvSpPr>
            <a:spLocks/>
          </p:cNvSpPr>
          <p:nvPr/>
        </p:nvSpPr>
        <p:spPr>
          <a:xfrm rot="0">
            <a:off x="6619874" y="16573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Monthly Revenue Bar Chart:</a:t>
            </a:r>
            <a:r>
              <a:rPr lang="en-US" altLang="zh-CN" sz="1200" b="0" i="0" u="none" strike="noStrike" kern="1200" cap="none" spc="0" baseline="0">
                <a:solidFill>
                  <a:srgbClr val="334155"/>
                </a:solidFill>
                <a:latin typeface="Inter" pitchFamily="0" charset="0"/>
                <a:ea typeface="宋体" pitchFamily="0" charset="0"/>
                <a:cs typeface="Calibri" pitchFamily="0" charset="0"/>
              </a:rPr>
              <a:t> Vertical bar chart displaying revenue distribution across January to December.</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2" name="Rectangle"/>
          <p:cNvSpPr>
            <a:spLocks/>
          </p:cNvSpPr>
          <p:nvPr/>
        </p:nvSpPr>
        <p:spPr>
          <a:xfrm rot="0">
            <a:off x="6562725" y="22098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3" name="Rectangle"/>
          <p:cNvSpPr>
            <a:spLocks/>
          </p:cNvSpPr>
          <p:nvPr/>
        </p:nvSpPr>
        <p:spPr>
          <a:xfrm rot="0">
            <a:off x="6619874" y="22098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Profit by Category:</a:t>
            </a:r>
            <a:r>
              <a:rPr lang="en-US" altLang="zh-CN" sz="1200" b="0" i="0" u="none" strike="noStrike" kern="1200" cap="none" spc="0" baseline="0">
                <a:solidFill>
                  <a:srgbClr val="334155"/>
                </a:solidFill>
                <a:latin typeface="Inter" pitchFamily="0" charset="0"/>
                <a:ea typeface="宋体" pitchFamily="0" charset="0"/>
                <a:cs typeface="Calibri" pitchFamily="0" charset="0"/>
              </a:rPr>
              <a:t> Horizontal bar chart highlighting profit generated by Accessories, Electronics, and Furniture.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4" name="Rectangle"/>
          <p:cNvSpPr>
            <a:spLocks/>
          </p:cNvSpPr>
          <p:nvPr/>
        </p:nvSpPr>
        <p:spPr>
          <a:xfrm rot="0">
            <a:off x="6562725" y="2762249"/>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5" name="Rectangle"/>
          <p:cNvSpPr>
            <a:spLocks/>
          </p:cNvSpPr>
          <p:nvPr/>
        </p:nvSpPr>
        <p:spPr>
          <a:xfrm rot="0">
            <a:off x="6619874" y="2762249"/>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Revenue by Region:</a:t>
            </a:r>
            <a:r>
              <a:rPr lang="en-US" altLang="zh-CN" sz="1200" b="0" i="0" u="none" strike="noStrike" kern="1200" cap="none" spc="0" baseline="0">
                <a:solidFill>
                  <a:srgbClr val="334155"/>
                </a:solidFill>
                <a:latin typeface="Inter" pitchFamily="0" charset="0"/>
                <a:ea typeface="宋体" pitchFamily="0" charset="0"/>
                <a:cs typeface="Calibri" pitchFamily="0" charset="0"/>
              </a:rPr>
              <a:t> Colored column chart comparing revenue across East, North, South, and West regions.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6" name="Rectangle"/>
          <p:cNvSpPr>
            <a:spLocks/>
          </p:cNvSpPr>
          <p:nvPr/>
        </p:nvSpPr>
        <p:spPr>
          <a:xfrm rot="0">
            <a:off x="6562725" y="33147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17" name="Rectangle"/>
          <p:cNvSpPr>
            <a:spLocks/>
          </p:cNvSpPr>
          <p:nvPr/>
        </p:nvSpPr>
        <p:spPr>
          <a:xfrm rot="0">
            <a:off x="6619874" y="33147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Customer Status Table:</a:t>
            </a:r>
            <a:r>
              <a:rPr lang="en-US" altLang="zh-CN" sz="1200" b="0" i="0" u="none" strike="noStrike" kern="1200" cap="none" spc="0" baseline="0">
                <a:solidFill>
                  <a:srgbClr val="334155"/>
                </a:solidFill>
                <a:latin typeface="Inter" pitchFamily="0" charset="0"/>
                <a:ea typeface="宋体" pitchFamily="0" charset="0"/>
                <a:cs typeface="Calibri" pitchFamily="0" charset="0"/>
              </a:rPr>
              <a:t> Matrix breakdown of customer IDs by Churned, Existing, and New status.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97014687"/>
      </p:ext>
    </p:ext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418"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419"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420" name="Image" descr="image.png"/>
          <p:cNvPicPr>
            <a:picLocks noChangeAspect="1"/>
          </p:cNvPicPr>
          <p:nvPr/>
        </p:nvPicPr>
        <p:blipFill>
          <a:blip r:embed="rId3" cstate="print"/>
          <a:stretch>
            <a:fillRect/>
          </a:stretch>
        </p:blipFill>
        <p:spPr>
          <a:xfrm rot="0">
            <a:off x="542925" y="2905125"/>
            <a:ext cx="11106150" cy="1104900"/>
          </a:xfrm>
          <a:prstGeom prst="rect"/>
          <a:noFill/>
          <a:ln w="12700" cmpd="sng" cap="flat">
            <a:noFill/>
            <a:prstDash val="solid"/>
            <a:miter/>
          </a:ln>
        </p:spPr>
      </p:pic>
      <p:pic>
        <p:nvPicPr>
          <p:cNvPr id="421" name="Image" descr="image.png"/>
          <p:cNvPicPr>
            <a:picLocks noChangeAspect="1"/>
          </p:cNvPicPr>
          <p:nvPr/>
        </p:nvPicPr>
        <p:blipFill>
          <a:blip r:embed="rId4" cstate="print"/>
          <a:stretch>
            <a:fillRect/>
          </a:stretch>
        </p:blipFill>
        <p:spPr>
          <a:xfrm rot="0">
            <a:off x="542925" y="1181100"/>
            <a:ext cx="3575000" cy="1476375"/>
          </a:xfrm>
          <a:prstGeom prst="rect"/>
          <a:noFill/>
          <a:ln w="12700" cmpd="sng" cap="flat">
            <a:noFill/>
            <a:prstDash val="solid"/>
            <a:miter/>
          </a:ln>
        </p:spPr>
      </p:pic>
      <p:pic>
        <p:nvPicPr>
          <p:cNvPr id="422" name="Image" descr="image.png"/>
          <p:cNvPicPr>
            <a:picLocks noChangeAspect="1"/>
          </p:cNvPicPr>
          <p:nvPr/>
        </p:nvPicPr>
        <p:blipFill>
          <a:blip r:embed="rId5" cstate="print"/>
          <a:stretch>
            <a:fillRect/>
          </a:stretch>
        </p:blipFill>
        <p:spPr>
          <a:xfrm rot="0">
            <a:off x="4308425" y="1181100"/>
            <a:ext cx="3575000" cy="1476375"/>
          </a:xfrm>
          <a:prstGeom prst="rect"/>
          <a:noFill/>
          <a:ln w="12700" cmpd="sng" cap="flat">
            <a:noFill/>
            <a:prstDash val="solid"/>
            <a:miter/>
          </a:ln>
        </p:spPr>
      </p:pic>
      <p:pic>
        <p:nvPicPr>
          <p:cNvPr id="423" name="Image" descr="image.png"/>
          <p:cNvPicPr>
            <a:picLocks noChangeAspect="1"/>
          </p:cNvPicPr>
          <p:nvPr/>
        </p:nvPicPr>
        <p:blipFill>
          <a:blip r:embed="rId6" cstate="print"/>
          <a:stretch>
            <a:fillRect/>
          </a:stretch>
        </p:blipFill>
        <p:spPr>
          <a:xfrm rot="0">
            <a:off x="8073925" y="1181100"/>
            <a:ext cx="3575149" cy="1476375"/>
          </a:xfrm>
          <a:prstGeom prst="rect"/>
          <a:noFill/>
          <a:ln w="12700" cmpd="sng" cap="flat">
            <a:noFill/>
            <a:prstDash val="solid"/>
            <a:miter/>
          </a:ln>
        </p:spPr>
      </p:pic>
      <p:sp>
        <p:nvSpPr>
          <p:cNvPr id="424"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Dashboard 1: Key Findings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425" name="Rectangle"/>
          <p:cNvSpPr>
            <a:spLocks/>
          </p:cNvSpPr>
          <p:nvPr/>
        </p:nvSpPr>
        <p:spPr>
          <a:xfrm rot="0">
            <a:off x="542925" y="933450"/>
            <a:ext cx="11106150" cy="19050"/>
          </a:xfrm>
          <a:prstGeom prst="rect"/>
          <a:solidFill>
            <a:srgbClr val="E2E8F0"/>
          </a:solidFill>
          <a:ln w="9525" cmpd="sng" cap="flat">
            <a:noFill/>
            <a:prstDash val="solid"/>
            <a:round/>
          </a:ln>
        </p:spPr>
      </p:sp>
      <p:sp>
        <p:nvSpPr>
          <p:cNvPr id="427"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19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428" name="Rectangle"/>
          <p:cNvSpPr>
            <a:spLocks/>
          </p:cNvSpPr>
          <p:nvPr/>
        </p:nvSpPr>
        <p:spPr>
          <a:xfrm rot="0">
            <a:off x="742949" y="3105150"/>
            <a:ext cx="1070610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Summary Observation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429" name="Rectangle"/>
          <p:cNvSpPr>
            <a:spLocks/>
          </p:cNvSpPr>
          <p:nvPr/>
        </p:nvSpPr>
        <p:spPr>
          <a:xfrm rot="0">
            <a:off x="742949" y="3381375"/>
            <a:ext cx="10706100" cy="214249"/>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687"/>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Dashboard 1 shows sales activity across the year, while the churn rate of 20.18% is an important customer metric to monitor.</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p:txBody>
      </p:sp>
      <p:sp>
        <p:nvSpPr>
          <p:cNvPr id="430" name="Rectangle"/>
          <p:cNvSpPr>
            <a:spLocks/>
          </p:cNvSpPr>
          <p:nvPr/>
        </p:nvSpPr>
        <p:spPr>
          <a:xfrm rot="0">
            <a:off x="742949" y="1381124"/>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1. Steady Monthly Revenue</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431" name="Rectangle"/>
          <p:cNvSpPr>
            <a:spLocks/>
          </p:cNvSpPr>
          <p:nvPr/>
        </p:nvSpPr>
        <p:spPr>
          <a:xfrm rot="0">
            <a:off x="742949" y="1657350"/>
            <a:ext cx="3174950"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Monthly revenue varies across the year, with higher revenue visible in some months.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432" name="Rectangle"/>
          <p:cNvSpPr>
            <a:spLocks/>
          </p:cNvSpPr>
          <p:nvPr/>
        </p:nvSpPr>
        <p:spPr>
          <a:xfrm rot="0">
            <a:off x="4508450" y="1381124"/>
            <a:ext cx="3174950"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2. Category Profit Overview</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433" name="Rectangle"/>
          <p:cNvSpPr>
            <a:spLocks/>
          </p:cNvSpPr>
          <p:nvPr/>
        </p:nvSpPr>
        <p:spPr>
          <a:xfrm rot="0">
            <a:off x="4508450" y="1657350"/>
            <a:ext cx="3174950"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The dashboard compares profit across the categories shown.</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434" name="Rectangle"/>
          <p:cNvSpPr>
            <a:spLocks/>
          </p:cNvSpPr>
          <p:nvPr/>
        </p:nvSpPr>
        <p:spPr>
          <a:xfrm rot="0">
            <a:off x="8273949" y="1381124"/>
            <a:ext cx="3175099"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3. Regional Revenue</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435" name="Rectangle"/>
          <p:cNvSpPr>
            <a:spLocks/>
          </p:cNvSpPr>
          <p:nvPr/>
        </p:nvSpPr>
        <p:spPr>
          <a:xfrm rot="0">
            <a:off x="8273949" y="1657350"/>
            <a:ext cx="3175099"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Revenue is compared across the North, South, East, and West regions in the dashboard view.</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401388466"/>
      </p:ext>
    </p:extLst>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436"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437"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sp>
        <p:nvSpPr>
          <p:cNvPr id="438"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Dashboard 2: Customer Analytics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439" name="Rectangle"/>
          <p:cNvSpPr>
            <a:spLocks/>
          </p:cNvSpPr>
          <p:nvPr/>
        </p:nvSpPr>
        <p:spPr>
          <a:xfrm rot="0">
            <a:off x="542925" y="933450"/>
            <a:ext cx="11106150" cy="19050"/>
          </a:xfrm>
          <a:prstGeom prst="rect"/>
          <a:solidFill>
            <a:srgbClr val="E2E8F0"/>
          </a:solidFill>
          <a:ln w="9525" cmpd="sng" cap="flat">
            <a:noFill/>
            <a:prstDash val="solid"/>
            <a:round/>
          </a:ln>
        </p:spPr>
      </p:sp>
      <p:sp>
        <p:nvSpPr>
          <p:cNvPr id="441" name="Rectangle"/>
          <p:cNvSpPr>
            <a:spLocks/>
          </p:cNvSpPr>
          <p:nvPr/>
        </p:nvSpPr>
        <p:spPr>
          <a:xfrm rot="0">
            <a:off x="10915650" y="6515100"/>
            <a:ext cx="7334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20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pic>
        <p:nvPicPr>
          <p:cNvPr id="442" name="Image" descr="image.png"/>
          <p:cNvPicPr>
            <a:picLocks noChangeAspect="1"/>
          </p:cNvPicPr>
          <p:nvPr/>
        </p:nvPicPr>
        <p:blipFill>
          <a:blip r:embed="rId3" cstate="print"/>
          <a:stretch>
            <a:fillRect/>
          </a:stretch>
        </p:blipFill>
        <p:spPr>
          <a:xfrm rot="0">
            <a:off x="552450" y="1190625"/>
            <a:ext cx="11087100" cy="4552950"/>
          </a:xfrm>
          <a:prstGeom prst="rect"/>
          <a:noFill/>
          <a:ln w="12700" cmpd="sng" cap="flat">
            <a:noFill/>
            <a:prstDash val="solid"/>
            <a:miter/>
          </a:ln>
        </p:spPr>
      </p:pic>
      <p:pic>
        <p:nvPicPr>
          <p:cNvPr id="443" name="Image" descr="24061.png"/>
          <p:cNvPicPr>
            <a:picLocks noChangeAspect="1"/>
          </p:cNvPicPr>
          <p:nvPr/>
        </p:nvPicPr>
        <p:blipFill>
          <a:blip r:embed="rId4" cstate="print"/>
          <a:stretch>
            <a:fillRect/>
          </a:stretch>
        </p:blipFill>
        <p:spPr>
          <a:xfrm rot="0">
            <a:off x="542925" y="1181100"/>
            <a:ext cx="11106150" cy="2249424"/>
          </a:xfrm>
          <a:prstGeom prst="rect"/>
          <a:noFill/>
          <a:ln w="12700" cmpd="sng" cap="flat">
            <a:noFill/>
            <a:prstDash val="solid"/>
            <a:miter/>
          </a:ln>
        </p:spPr>
      </p:pic>
      <p:pic>
        <p:nvPicPr>
          <p:cNvPr id="444" name="Image" descr="24062.png"/>
          <p:cNvPicPr>
            <a:picLocks noChangeAspect="1"/>
          </p:cNvPicPr>
          <p:nvPr/>
        </p:nvPicPr>
        <p:blipFill>
          <a:blip r:embed="rId5" cstate="print"/>
          <a:stretch>
            <a:fillRect/>
          </a:stretch>
        </p:blipFill>
        <p:spPr>
          <a:xfrm rot="0">
            <a:off x="542925" y="3503676"/>
            <a:ext cx="11106150" cy="2249423"/>
          </a:xfrm>
          <a:prstGeom prst="rect"/>
          <a:noFill/>
          <a:ln w="12700" cmpd="sng" cap="flat">
            <a:noFill/>
            <a:prstDash val="solid"/>
            <a:miter/>
          </a:ln>
        </p:spPr>
      </p:pic>
    </p:spTree>
    <p:extLst>
      <p:ext uri="{BB962C8B-B14F-4D97-AF65-F5344CB8AC3E}">
        <p14:creationId xmlns:p14="http://schemas.microsoft.com/office/powerpoint/2010/main" val="1840715440"/>
      </p:ext>
    </p:extLst>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445"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446"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447" name="Image" descr="image.png"/>
          <p:cNvPicPr>
            <a:picLocks noChangeAspect="1"/>
          </p:cNvPicPr>
          <p:nvPr/>
        </p:nvPicPr>
        <p:blipFill>
          <a:blip r:embed="rId3" cstate="print"/>
          <a:stretch>
            <a:fillRect/>
          </a:stretch>
        </p:blipFill>
        <p:spPr>
          <a:xfrm rot="0">
            <a:off x="542925" y="1181100"/>
            <a:ext cx="2662237" cy="847725"/>
          </a:xfrm>
          <a:prstGeom prst="rect"/>
          <a:noFill/>
          <a:ln w="12700" cmpd="sng" cap="flat">
            <a:noFill/>
            <a:prstDash val="solid"/>
            <a:miter/>
          </a:ln>
        </p:spPr>
      </p:pic>
      <p:pic>
        <p:nvPicPr>
          <p:cNvPr id="448" name="Image" descr="image.png"/>
          <p:cNvPicPr>
            <a:picLocks noChangeAspect="1"/>
          </p:cNvPicPr>
          <p:nvPr/>
        </p:nvPicPr>
        <p:blipFill>
          <a:blip r:embed="rId4" cstate="print"/>
          <a:stretch>
            <a:fillRect/>
          </a:stretch>
        </p:blipFill>
        <p:spPr>
          <a:xfrm rot="0">
            <a:off x="3357562" y="1181100"/>
            <a:ext cx="2662237" cy="847725"/>
          </a:xfrm>
          <a:prstGeom prst="rect"/>
          <a:noFill/>
          <a:ln w="12700" cmpd="sng" cap="flat">
            <a:noFill/>
            <a:prstDash val="solid"/>
            <a:miter/>
          </a:ln>
        </p:spPr>
      </p:pic>
      <p:pic>
        <p:nvPicPr>
          <p:cNvPr id="449" name="Image" descr="image.png"/>
          <p:cNvPicPr>
            <a:picLocks noChangeAspect="1"/>
          </p:cNvPicPr>
          <p:nvPr/>
        </p:nvPicPr>
        <p:blipFill>
          <a:blip r:embed="rId5" cstate="print"/>
          <a:stretch>
            <a:fillRect/>
          </a:stretch>
        </p:blipFill>
        <p:spPr>
          <a:xfrm rot="0">
            <a:off x="6172200" y="1181100"/>
            <a:ext cx="2662237" cy="847725"/>
          </a:xfrm>
          <a:prstGeom prst="rect"/>
          <a:noFill/>
          <a:ln w="12700" cmpd="sng" cap="flat">
            <a:noFill/>
            <a:prstDash val="solid"/>
            <a:miter/>
          </a:ln>
        </p:spPr>
      </p:pic>
      <p:pic>
        <p:nvPicPr>
          <p:cNvPr id="450" name="Image" descr="image.png"/>
          <p:cNvPicPr>
            <a:picLocks noChangeAspect="1"/>
          </p:cNvPicPr>
          <p:nvPr/>
        </p:nvPicPr>
        <p:blipFill>
          <a:blip r:embed="rId6" cstate="print"/>
          <a:stretch>
            <a:fillRect/>
          </a:stretch>
        </p:blipFill>
        <p:spPr>
          <a:xfrm rot="0">
            <a:off x="8986837" y="1181100"/>
            <a:ext cx="2662237" cy="847725"/>
          </a:xfrm>
          <a:prstGeom prst="rect"/>
          <a:noFill/>
          <a:ln w="12700" cmpd="sng" cap="flat">
            <a:noFill/>
            <a:prstDash val="solid"/>
            <a:miter/>
          </a:ln>
        </p:spPr>
      </p:pic>
      <p:pic>
        <p:nvPicPr>
          <p:cNvPr id="451" name="Image" descr="image.png"/>
          <p:cNvPicPr>
            <a:picLocks noChangeAspect="1"/>
          </p:cNvPicPr>
          <p:nvPr/>
        </p:nvPicPr>
        <p:blipFill>
          <a:blip r:embed="rId7" cstate="print"/>
          <a:stretch>
            <a:fillRect/>
          </a:stretch>
        </p:blipFill>
        <p:spPr>
          <a:xfrm rot="0">
            <a:off x="542925" y="2219325"/>
            <a:ext cx="5419725" cy="2790824"/>
          </a:xfrm>
          <a:prstGeom prst="rect"/>
          <a:noFill/>
          <a:ln w="12700" cmpd="sng" cap="flat">
            <a:noFill/>
            <a:prstDash val="solid"/>
            <a:miter/>
          </a:ln>
        </p:spPr>
      </p:pic>
      <p:pic>
        <p:nvPicPr>
          <p:cNvPr id="452" name="Image" descr="image.png"/>
          <p:cNvPicPr>
            <a:picLocks noChangeAspect="1"/>
          </p:cNvPicPr>
          <p:nvPr/>
        </p:nvPicPr>
        <p:blipFill>
          <a:blip r:embed="rId8" cstate="print"/>
          <a:stretch>
            <a:fillRect/>
          </a:stretch>
        </p:blipFill>
        <p:spPr>
          <a:xfrm rot="0">
            <a:off x="6229350" y="2219325"/>
            <a:ext cx="5419724" cy="2790824"/>
          </a:xfrm>
          <a:prstGeom prst="rect"/>
          <a:noFill/>
          <a:ln w="12700" cmpd="sng" cap="flat">
            <a:noFill/>
            <a:prstDash val="solid"/>
            <a:miter/>
          </a:ln>
        </p:spPr>
      </p:pic>
      <p:sp>
        <p:nvSpPr>
          <p:cNvPr id="453"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Dashboard 2: Customer Metrics Analysis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454" name="Rectangle"/>
          <p:cNvSpPr>
            <a:spLocks/>
          </p:cNvSpPr>
          <p:nvPr/>
        </p:nvSpPr>
        <p:spPr>
          <a:xfrm rot="0">
            <a:off x="542925" y="933450"/>
            <a:ext cx="11106150" cy="19050"/>
          </a:xfrm>
          <a:prstGeom prst="rect"/>
          <a:solidFill>
            <a:srgbClr val="E2E8F0"/>
          </a:solidFill>
          <a:ln w="9525" cmpd="sng" cap="flat">
            <a:noFill/>
            <a:prstDash val="solid"/>
            <a:round/>
          </a:ln>
        </p:spPr>
      </p:sp>
      <p:sp>
        <p:nvSpPr>
          <p:cNvPr id="456" name="Rectangle"/>
          <p:cNvSpPr>
            <a:spLocks/>
          </p:cNvSpPr>
          <p:nvPr/>
        </p:nvSpPr>
        <p:spPr>
          <a:xfrm rot="0">
            <a:off x="10944225" y="6515100"/>
            <a:ext cx="70484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21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457" name="Rectangle"/>
          <p:cNvSpPr>
            <a:spLocks/>
          </p:cNvSpPr>
          <p:nvPr/>
        </p:nvSpPr>
        <p:spPr>
          <a:xfrm rot="0">
            <a:off x="733425"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441</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458" name="Rectangle"/>
          <p:cNvSpPr>
            <a:spLocks/>
          </p:cNvSpPr>
          <p:nvPr/>
        </p:nvSpPr>
        <p:spPr>
          <a:xfrm rot="0">
            <a:off x="733425" y="1704974"/>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Total Customers</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459" name="Rectangle"/>
          <p:cNvSpPr>
            <a:spLocks/>
          </p:cNvSpPr>
          <p:nvPr/>
        </p:nvSpPr>
        <p:spPr>
          <a:xfrm rot="0">
            <a:off x="3548062"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219</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460" name="Rectangle"/>
          <p:cNvSpPr>
            <a:spLocks/>
          </p:cNvSpPr>
          <p:nvPr/>
        </p:nvSpPr>
        <p:spPr>
          <a:xfrm rot="0">
            <a:off x="3548062" y="1704974"/>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New Customers</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461" name="Rectangle"/>
          <p:cNvSpPr>
            <a:spLocks/>
          </p:cNvSpPr>
          <p:nvPr/>
        </p:nvSpPr>
        <p:spPr>
          <a:xfrm rot="0">
            <a:off x="6362700"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89</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462" name="Rectangle"/>
          <p:cNvSpPr>
            <a:spLocks/>
          </p:cNvSpPr>
          <p:nvPr/>
        </p:nvSpPr>
        <p:spPr>
          <a:xfrm rot="0">
            <a:off x="6362700" y="1704974"/>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Churned Customers</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463" name="Rectangle"/>
          <p:cNvSpPr>
            <a:spLocks/>
          </p:cNvSpPr>
          <p:nvPr/>
        </p:nvSpPr>
        <p:spPr>
          <a:xfrm rot="0">
            <a:off x="9177337"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20.18%</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464" name="Rectangle"/>
          <p:cNvSpPr>
            <a:spLocks/>
          </p:cNvSpPr>
          <p:nvPr/>
        </p:nvSpPr>
        <p:spPr>
          <a:xfrm rot="0">
            <a:off x="9177337" y="1704974"/>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Churn Rate</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465" name="Rectangle"/>
          <p:cNvSpPr>
            <a:spLocks/>
          </p:cNvSpPr>
          <p:nvPr/>
        </p:nvSpPr>
        <p:spPr>
          <a:xfrm rot="0">
            <a:off x="742949" y="2419350"/>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Customer Acquisition &amp; Churn Findings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466" name="Rectangle"/>
          <p:cNvSpPr>
            <a:spLocks/>
          </p:cNvSpPr>
          <p:nvPr/>
        </p:nvSpPr>
        <p:spPr>
          <a:xfrm rot="0">
            <a:off x="6429375" y="2419350"/>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Regional Customer Distribution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467" name="Rectangle"/>
          <p:cNvSpPr>
            <a:spLocks/>
          </p:cNvSpPr>
          <p:nvPr/>
        </p:nvSpPr>
        <p:spPr>
          <a:xfrm rot="0">
            <a:off x="876299" y="26955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68" name="Rectangle"/>
          <p:cNvSpPr>
            <a:spLocks/>
          </p:cNvSpPr>
          <p:nvPr/>
        </p:nvSpPr>
        <p:spPr>
          <a:xfrm rot="0">
            <a:off x="933450" y="269557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New Customers: 219 new customers are shown in the dashboard.</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69" name="Rectangle"/>
          <p:cNvSpPr>
            <a:spLocks/>
          </p:cNvSpPr>
          <p:nvPr/>
        </p:nvSpPr>
        <p:spPr>
          <a:xfrm rot="0">
            <a:off x="876299" y="34766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70" name="Rectangle"/>
          <p:cNvSpPr>
            <a:spLocks/>
          </p:cNvSpPr>
          <p:nvPr/>
        </p:nvSpPr>
        <p:spPr>
          <a:xfrm rot="0">
            <a:off x="933450" y="347662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Customer Churn: 89 customers are shown as churned, with a churn rate of 20.18%.</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71" name="Rectangle"/>
          <p:cNvSpPr>
            <a:spLocks/>
          </p:cNvSpPr>
          <p:nvPr/>
        </p:nvSpPr>
        <p:spPr>
          <a:xfrm rot="0">
            <a:off x="876299" y="40290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72" name="Rectangle"/>
          <p:cNvSpPr>
            <a:spLocks/>
          </p:cNvSpPr>
          <p:nvPr/>
        </p:nvSpPr>
        <p:spPr>
          <a:xfrm rot="0">
            <a:off x="933450" y="402907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Acquisition Trend: The line chart shows monthly new customer additions.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73" name="Rectangle"/>
          <p:cNvSpPr>
            <a:spLocks/>
          </p:cNvSpPr>
          <p:nvPr/>
        </p:nvSpPr>
        <p:spPr>
          <a:xfrm rot="0">
            <a:off x="6562725" y="26955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74" name="Rectangle"/>
          <p:cNvSpPr>
            <a:spLocks/>
          </p:cNvSpPr>
          <p:nvPr/>
        </p:nvSpPr>
        <p:spPr>
          <a:xfrm rot="0">
            <a:off x="6619874" y="269557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Regional Customer Distribution: Distinct Customer ID counts are compared across the four regions.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75" name="Rectangle"/>
          <p:cNvSpPr>
            <a:spLocks/>
          </p:cNvSpPr>
          <p:nvPr/>
        </p:nvSpPr>
        <p:spPr>
          <a:xfrm rot="0">
            <a:off x="6562725" y="34766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476" name="Rectangle"/>
          <p:cNvSpPr>
            <a:spLocks/>
          </p:cNvSpPr>
          <p:nvPr/>
        </p:nvSpPr>
        <p:spPr>
          <a:xfrm rot="0">
            <a:off x="6619874" y="347662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dashboard shows customer distribution across East, North, South and West.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760707760"/>
      </p:ext>
    </p:extLst>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477"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478"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sp>
        <p:nvSpPr>
          <p:cNvPr id="479"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Dashboard 3: Financial Performance</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480" name="Rectangle"/>
          <p:cNvSpPr>
            <a:spLocks/>
          </p:cNvSpPr>
          <p:nvPr/>
        </p:nvSpPr>
        <p:spPr>
          <a:xfrm rot="0">
            <a:off x="542925" y="933450"/>
            <a:ext cx="11106150" cy="19050"/>
          </a:xfrm>
          <a:prstGeom prst="rect"/>
          <a:solidFill>
            <a:srgbClr val="E2E8F0"/>
          </a:solidFill>
          <a:ln w="9525" cmpd="sng" cap="flat">
            <a:noFill/>
            <a:prstDash val="solid"/>
            <a:round/>
          </a:ln>
        </p:spPr>
      </p:sp>
      <p:sp>
        <p:nvSpPr>
          <p:cNvPr id="482" name="Rectangle"/>
          <p:cNvSpPr>
            <a:spLocks/>
          </p:cNvSpPr>
          <p:nvPr/>
        </p:nvSpPr>
        <p:spPr>
          <a:xfrm rot="0">
            <a:off x="10925175" y="6515100"/>
            <a:ext cx="72389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22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pic>
        <p:nvPicPr>
          <p:cNvPr id="483" name="Image" descr="image.png"/>
          <p:cNvPicPr>
            <a:picLocks noChangeAspect="1"/>
          </p:cNvPicPr>
          <p:nvPr/>
        </p:nvPicPr>
        <p:blipFill>
          <a:blip r:embed="rId3" cstate="print"/>
          <a:stretch>
            <a:fillRect/>
          </a:stretch>
        </p:blipFill>
        <p:spPr>
          <a:xfrm rot="0">
            <a:off x="552450" y="1190625"/>
            <a:ext cx="11087100" cy="4552950"/>
          </a:xfrm>
          <a:prstGeom prst="rect"/>
          <a:noFill/>
          <a:ln w="12700" cmpd="sng" cap="flat">
            <a:noFill/>
            <a:prstDash val="solid"/>
            <a:miter/>
          </a:ln>
        </p:spPr>
      </p:pic>
      <p:pic>
        <p:nvPicPr>
          <p:cNvPr id="484" name="Image" descr="24051.png"/>
          <p:cNvPicPr>
            <a:picLocks noChangeAspect="1"/>
          </p:cNvPicPr>
          <p:nvPr/>
        </p:nvPicPr>
        <p:blipFill>
          <a:blip r:embed="rId4" cstate="print"/>
          <a:stretch>
            <a:fillRect/>
          </a:stretch>
        </p:blipFill>
        <p:spPr>
          <a:xfrm rot="0">
            <a:off x="542925" y="1181100"/>
            <a:ext cx="11106150" cy="2249424"/>
          </a:xfrm>
          <a:prstGeom prst="rect"/>
          <a:noFill/>
          <a:ln w="12700" cmpd="sng" cap="flat">
            <a:noFill/>
            <a:prstDash val="solid"/>
            <a:miter/>
          </a:ln>
        </p:spPr>
      </p:pic>
      <p:pic>
        <p:nvPicPr>
          <p:cNvPr id="485" name="Image" descr="24052.png"/>
          <p:cNvPicPr>
            <a:picLocks noChangeAspect="1"/>
          </p:cNvPicPr>
          <p:nvPr/>
        </p:nvPicPr>
        <p:blipFill>
          <a:blip r:embed="rId5" cstate="print"/>
          <a:stretch>
            <a:fillRect/>
          </a:stretch>
        </p:blipFill>
        <p:spPr>
          <a:xfrm rot="0">
            <a:off x="542925" y="3503676"/>
            <a:ext cx="11106150" cy="2249423"/>
          </a:xfrm>
          <a:prstGeom prst="rect"/>
          <a:noFill/>
          <a:ln w="12700" cmpd="sng" cap="flat">
            <a:noFill/>
            <a:prstDash val="solid"/>
            <a:miter/>
          </a:ln>
        </p:spPr>
      </p:pic>
    </p:spTree>
    <p:extLst>
      <p:ext uri="{BB962C8B-B14F-4D97-AF65-F5344CB8AC3E}">
        <p14:creationId xmlns:p14="http://schemas.microsoft.com/office/powerpoint/2010/main" val="217193504"/>
      </p:ext>
    </p:extLst>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486"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487"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488" name="Image" descr="image.png"/>
          <p:cNvPicPr>
            <a:picLocks noChangeAspect="1"/>
          </p:cNvPicPr>
          <p:nvPr/>
        </p:nvPicPr>
        <p:blipFill>
          <a:blip r:embed="rId3" cstate="print"/>
          <a:stretch>
            <a:fillRect/>
          </a:stretch>
        </p:blipFill>
        <p:spPr>
          <a:xfrm rot="0">
            <a:off x="542925" y="1181100"/>
            <a:ext cx="2662237" cy="1171574"/>
          </a:xfrm>
          <a:prstGeom prst="rect"/>
          <a:noFill/>
          <a:ln w="12700" cmpd="sng" cap="flat">
            <a:noFill/>
            <a:prstDash val="solid"/>
            <a:miter/>
          </a:ln>
        </p:spPr>
      </p:pic>
      <p:pic>
        <p:nvPicPr>
          <p:cNvPr id="489" name="Image" descr="image.png"/>
          <p:cNvPicPr>
            <a:picLocks noChangeAspect="1"/>
          </p:cNvPicPr>
          <p:nvPr/>
        </p:nvPicPr>
        <p:blipFill>
          <a:blip r:embed="rId4" cstate="print"/>
          <a:stretch>
            <a:fillRect/>
          </a:stretch>
        </p:blipFill>
        <p:spPr>
          <a:xfrm rot="0">
            <a:off x="3357562" y="1181100"/>
            <a:ext cx="2662237" cy="1171574"/>
          </a:xfrm>
          <a:prstGeom prst="rect"/>
          <a:noFill/>
          <a:ln w="12700" cmpd="sng" cap="flat">
            <a:noFill/>
            <a:prstDash val="solid"/>
            <a:miter/>
          </a:ln>
        </p:spPr>
      </p:pic>
      <p:pic>
        <p:nvPicPr>
          <p:cNvPr id="490" name="Image" descr="image.png"/>
          <p:cNvPicPr>
            <a:picLocks noChangeAspect="1"/>
          </p:cNvPicPr>
          <p:nvPr/>
        </p:nvPicPr>
        <p:blipFill>
          <a:blip r:embed="rId5" cstate="print"/>
          <a:stretch>
            <a:fillRect/>
          </a:stretch>
        </p:blipFill>
        <p:spPr>
          <a:xfrm rot="0">
            <a:off x="6172200" y="1181100"/>
            <a:ext cx="2662237" cy="1171574"/>
          </a:xfrm>
          <a:prstGeom prst="rect"/>
          <a:noFill/>
          <a:ln w="12700" cmpd="sng" cap="flat">
            <a:noFill/>
            <a:prstDash val="solid"/>
            <a:miter/>
          </a:ln>
        </p:spPr>
      </p:pic>
      <p:pic>
        <p:nvPicPr>
          <p:cNvPr id="491" name="Image" descr="image.png"/>
          <p:cNvPicPr>
            <a:picLocks noChangeAspect="1"/>
          </p:cNvPicPr>
          <p:nvPr/>
        </p:nvPicPr>
        <p:blipFill>
          <a:blip r:embed="rId6" cstate="print"/>
          <a:stretch>
            <a:fillRect/>
          </a:stretch>
        </p:blipFill>
        <p:spPr>
          <a:xfrm rot="0">
            <a:off x="8986837" y="1181100"/>
            <a:ext cx="2662237" cy="1171574"/>
          </a:xfrm>
          <a:prstGeom prst="rect"/>
          <a:noFill/>
          <a:ln w="12700" cmpd="sng" cap="flat">
            <a:noFill/>
            <a:prstDash val="solid"/>
            <a:miter/>
          </a:ln>
        </p:spPr>
      </p:pic>
      <p:pic>
        <p:nvPicPr>
          <p:cNvPr id="492" name="Image" descr="image.png"/>
          <p:cNvPicPr>
            <a:picLocks noChangeAspect="1"/>
          </p:cNvPicPr>
          <p:nvPr/>
        </p:nvPicPr>
        <p:blipFill>
          <a:blip r:embed="rId7" cstate="print"/>
          <a:stretch>
            <a:fillRect/>
          </a:stretch>
        </p:blipFill>
        <p:spPr>
          <a:xfrm rot="0">
            <a:off x="542925" y="2543175"/>
            <a:ext cx="5419725" cy="2105025"/>
          </a:xfrm>
          <a:prstGeom prst="rect"/>
          <a:noFill/>
          <a:ln w="12700" cmpd="sng" cap="flat">
            <a:noFill/>
            <a:prstDash val="solid"/>
            <a:miter/>
          </a:ln>
        </p:spPr>
      </p:pic>
      <p:pic>
        <p:nvPicPr>
          <p:cNvPr id="493" name="Image" descr="image.png"/>
          <p:cNvPicPr>
            <a:picLocks noChangeAspect="1"/>
          </p:cNvPicPr>
          <p:nvPr/>
        </p:nvPicPr>
        <p:blipFill>
          <a:blip r:embed="rId8" cstate="print"/>
          <a:stretch>
            <a:fillRect/>
          </a:stretch>
        </p:blipFill>
        <p:spPr>
          <a:xfrm rot="0">
            <a:off x="6229350" y="2543175"/>
            <a:ext cx="5419724" cy="2105025"/>
          </a:xfrm>
          <a:prstGeom prst="rect"/>
          <a:noFill/>
          <a:ln w="12700" cmpd="sng" cap="flat">
            <a:noFill/>
            <a:prstDash val="solid"/>
            <a:miter/>
          </a:ln>
        </p:spPr>
      </p:pic>
      <p:sp>
        <p:nvSpPr>
          <p:cNvPr id="494"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Dashboard 3: Financial Metrics Analysis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495" name="Rectangle"/>
          <p:cNvSpPr>
            <a:spLocks/>
          </p:cNvSpPr>
          <p:nvPr/>
        </p:nvSpPr>
        <p:spPr>
          <a:xfrm rot="0">
            <a:off x="542925" y="933450"/>
            <a:ext cx="11106150" cy="19050"/>
          </a:xfrm>
          <a:prstGeom prst="rect"/>
          <a:solidFill>
            <a:srgbClr val="E2E8F0"/>
          </a:solidFill>
          <a:ln w="9525" cmpd="sng" cap="flat">
            <a:noFill/>
            <a:prstDash val="solid"/>
            <a:round/>
          </a:ln>
        </p:spPr>
      </p:sp>
      <p:sp>
        <p:nvSpPr>
          <p:cNvPr id="497" name="Rectangle"/>
          <p:cNvSpPr>
            <a:spLocks/>
          </p:cNvSpPr>
          <p:nvPr/>
        </p:nvSpPr>
        <p:spPr>
          <a:xfrm rot="0">
            <a:off x="10925175" y="6515100"/>
            <a:ext cx="72389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23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498" name="Rectangle"/>
          <p:cNvSpPr>
            <a:spLocks/>
          </p:cNvSpPr>
          <p:nvPr/>
        </p:nvSpPr>
        <p:spPr>
          <a:xfrm rot="0">
            <a:off x="733425"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₹1,079,314</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499" name="Rectangle"/>
          <p:cNvSpPr>
            <a:spLocks/>
          </p:cNvSpPr>
          <p:nvPr/>
        </p:nvSpPr>
        <p:spPr>
          <a:xfrm rot="0">
            <a:off x="733425" y="1704974"/>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Total Revenue</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500" name="Rectangle"/>
          <p:cNvSpPr>
            <a:spLocks/>
          </p:cNvSpPr>
          <p:nvPr/>
        </p:nvSpPr>
        <p:spPr>
          <a:xfrm rot="0">
            <a:off x="3548062"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₹793,859</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501" name="Rectangle"/>
          <p:cNvSpPr>
            <a:spLocks/>
          </p:cNvSpPr>
          <p:nvPr/>
        </p:nvSpPr>
        <p:spPr>
          <a:xfrm rot="0">
            <a:off x="3548062" y="1704974"/>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Total Cost</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502" name="Rectangle"/>
          <p:cNvSpPr>
            <a:spLocks/>
          </p:cNvSpPr>
          <p:nvPr/>
        </p:nvSpPr>
        <p:spPr>
          <a:xfrm rot="0">
            <a:off x="6362700"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₹285,455</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503" name="Rectangle"/>
          <p:cNvSpPr>
            <a:spLocks/>
          </p:cNvSpPr>
          <p:nvPr/>
        </p:nvSpPr>
        <p:spPr>
          <a:xfrm rot="0">
            <a:off x="6362700" y="1704974"/>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Total Profit</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504" name="Rectangle"/>
          <p:cNvSpPr>
            <a:spLocks/>
          </p:cNvSpPr>
          <p:nvPr/>
        </p:nvSpPr>
        <p:spPr>
          <a:xfrm rot="0">
            <a:off x="9177337" y="1343025"/>
            <a:ext cx="2309812" cy="3143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2100" b="1" i="0" u="none" strike="noStrike" kern="1200" cap="none" spc="0" baseline="0">
                <a:solidFill>
                  <a:srgbClr val="1E3A8A"/>
                </a:solidFill>
                <a:latin typeface="Inter" pitchFamily="0" charset="0"/>
                <a:ea typeface="宋体" pitchFamily="0" charset="0"/>
                <a:cs typeface="Calibri" pitchFamily="0" charset="0"/>
              </a:rPr>
              <a:t>≈26.45%</a:t>
            </a:r>
            <a:endParaRPr lang="zh-CN" altLang="en-US" sz="2100" b="1" i="0" u="none" strike="noStrike" kern="1200" cap="none" spc="0" baseline="0">
              <a:solidFill>
                <a:srgbClr val="1E3A8A"/>
              </a:solidFill>
              <a:latin typeface="Inter" pitchFamily="0" charset="0"/>
              <a:ea typeface="宋体" pitchFamily="0" charset="0"/>
              <a:cs typeface="Calibri" pitchFamily="0" charset="0"/>
            </a:endParaRPr>
          </a:p>
        </p:txBody>
      </p:sp>
      <p:sp>
        <p:nvSpPr>
          <p:cNvPr id="505" name="Rectangle"/>
          <p:cNvSpPr>
            <a:spLocks/>
          </p:cNvSpPr>
          <p:nvPr/>
        </p:nvSpPr>
        <p:spPr>
          <a:xfrm rot="0">
            <a:off x="9177337" y="2028825"/>
            <a:ext cx="2309812" cy="161925"/>
          </a:xfrm>
          <a:prstGeom prst="rect"/>
          <a:noFill/>
          <a:ln w="12700" cmpd="sng" cap="flat">
            <a:noFill/>
            <a:prstDash val="solid"/>
            <a:miter/>
          </a:ln>
        </p:spPr>
        <p:txBody>
          <a:bodyPr vert="horz" wrap="square" lIns="0" tIns="0" rIns="0" bIns="0" anchor="t" anchorCtr="0">
            <a:prstTxWarp prst="textNoShape"/>
            <a:spAutoFit/>
          </a:bodyPr>
          <a:lstStyle/>
          <a:p>
            <a:pPr marL="0" indent="0" algn="ctr">
              <a:lnSpc>
                <a:spcPct val="100000"/>
              </a:lnSpc>
              <a:spcBef>
                <a:spcPts val="0"/>
              </a:spcBef>
              <a:spcAft>
                <a:spcPts val="0"/>
              </a:spcAft>
              <a:buNone/>
            </a:pPr>
            <a:r>
              <a:rPr lang="en-US" altLang="zh-CN" sz="1050" b="0" i="0" u="none" strike="noStrike" kern="1200" cap="none" spc="0" baseline="0">
                <a:solidFill>
                  <a:srgbClr val="475569"/>
                </a:solidFill>
                <a:latin typeface="Inter Medium" pitchFamily="0" charset="0"/>
                <a:ea typeface="宋体" pitchFamily="0" charset="0"/>
                <a:cs typeface="Calibri" pitchFamily="0" charset="0"/>
              </a:rPr>
              <a:t>Profit Margin %</a:t>
            </a:r>
            <a:endParaRPr lang="zh-CN" altLang="en-US" sz="1050" b="0" i="0" u="none" strike="noStrike" kern="1200" cap="none" spc="0" baseline="0">
              <a:solidFill>
                <a:srgbClr val="475569"/>
              </a:solidFill>
              <a:latin typeface="Inter Medium" pitchFamily="0" charset="0"/>
              <a:ea typeface="宋体" pitchFamily="0" charset="0"/>
              <a:cs typeface="Calibri" pitchFamily="0" charset="0"/>
            </a:endParaRPr>
          </a:p>
        </p:txBody>
      </p:sp>
      <p:sp>
        <p:nvSpPr>
          <p:cNvPr id="506" name="Rectangle"/>
          <p:cNvSpPr>
            <a:spLocks/>
          </p:cNvSpPr>
          <p:nvPr/>
        </p:nvSpPr>
        <p:spPr>
          <a:xfrm rot="0">
            <a:off x="742949" y="2743200"/>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Financial Summary</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07" name="Rectangle"/>
          <p:cNvSpPr>
            <a:spLocks/>
          </p:cNvSpPr>
          <p:nvPr/>
        </p:nvSpPr>
        <p:spPr>
          <a:xfrm rot="0">
            <a:off x="6429375" y="2743200"/>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Key Financial Takeaways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08" name="Rectangle"/>
          <p:cNvSpPr>
            <a:spLocks/>
          </p:cNvSpPr>
          <p:nvPr/>
        </p:nvSpPr>
        <p:spPr>
          <a:xfrm rot="0">
            <a:off x="876299" y="30194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09" name="Rectangle"/>
          <p:cNvSpPr>
            <a:spLocks/>
          </p:cNvSpPr>
          <p:nvPr/>
        </p:nvSpPr>
        <p:spPr>
          <a:xfrm rot="0">
            <a:off x="933450" y="301942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Revenue is higher than cost in the supplied project metrics, resulting in positive overall profit.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0" name="Rectangle"/>
          <p:cNvSpPr>
            <a:spLocks/>
          </p:cNvSpPr>
          <p:nvPr/>
        </p:nvSpPr>
        <p:spPr>
          <a:xfrm rot="0">
            <a:off x="876299" y="35718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1" name="Rectangle"/>
          <p:cNvSpPr>
            <a:spLocks/>
          </p:cNvSpPr>
          <p:nvPr/>
        </p:nvSpPr>
        <p:spPr>
          <a:xfrm rot="0">
            <a:off x="933450" y="3571875"/>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Overall business profit margin is approximately 26.45% based on the supplied project metrics.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2" name="Rectangle"/>
          <p:cNvSpPr>
            <a:spLocks/>
          </p:cNvSpPr>
          <p:nvPr/>
        </p:nvSpPr>
        <p:spPr>
          <a:xfrm rot="0">
            <a:off x="6562725" y="30194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3" name="Rectangle"/>
          <p:cNvSpPr>
            <a:spLocks/>
          </p:cNvSpPr>
          <p:nvPr/>
        </p:nvSpPr>
        <p:spPr>
          <a:xfrm rot="0">
            <a:off x="6619874" y="301942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Total revenue is ₹1,079,314 and total cost is ₹793,859.</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4" name="Rectangle"/>
          <p:cNvSpPr>
            <a:spLocks/>
          </p:cNvSpPr>
          <p:nvPr/>
        </p:nvSpPr>
        <p:spPr>
          <a:xfrm rot="0">
            <a:off x="6562725" y="334327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5" name="Rectangle"/>
          <p:cNvSpPr>
            <a:spLocks/>
          </p:cNvSpPr>
          <p:nvPr/>
        </p:nvSpPr>
        <p:spPr>
          <a:xfrm rot="0">
            <a:off x="6619874" y="334327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dashboard compares monthly revenue and cost trends.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6" name="Rectangle"/>
          <p:cNvSpPr>
            <a:spLocks/>
          </p:cNvSpPr>
          <p:nvPr/>
        </p:nvSpPr>
        <p:spPr>
          <a:xfrm rot="0">
            <a:off x="6562725" y="3895725"/>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17" name="Rectangle"/>
          <p:cNvSpPr>
            <a:spLocks/>
          </p:cNvSpPr>
          <p:nvPr/>
        </p:nvSpPr>
        <p:spPr>
          <a:xfrm rot="0">
            <a:off x="6619874" y="3895725"/>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The dashboard compares profitability across products and categories.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423940360"/>
      </p:ext>
    </p:extLst>
  </p:cSld>
  <p:clrMapOvr>
    <a:masterClrMapping/>
  </p:clrMapOvr>
</p:sld>
</file>

<file path=ppt/slides/slide2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518"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519"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520" name="Image" descr="image.png"/>
          <p:cNvPicPr>
            <a:picLocks noChangeAspect="1"/>
          </p:cNvPicPr>
          <p:nvPr/>
        </p:nvPicPr>
        <p:blipFill>
          <a:blip r:embed="rId3" cstate="print"/>
          <a:stretch>
            <a:fillRect/>
          </a:stretch>
        </p:blipFill>
        <p:spPr>
          <a:xfrm rot="0">
            <a:off x="6229350" y="1181100"/>
            <a:ext cx="5419724" cy="2562225"/>
          </a:xfrm>
          <a:prstGeom prst="rect"/>
          <a:noFill/>
          <a:ln w="12700" cmpd="sng" cap="flat">
            <a:noFill/>
            <a:prstDash val="solid"/>
            <a:miter/>
          </a:ln>
        </p:spPr>
      </p:pic>
      <p:pic>
        <p:nvPicPr>
          <p:cNvPr id="521" name="Image" descr="image.png"/>
          <p:cNvPicPr>
            <a:picLocks noChangeAspect="1"/>
          </p:cNvPicPr>
          <p:nvPr/>
        </p:nvPicPr>
        <p:blipFill>
          <a:blip r:embed="rId4" cstate="print"/>
          <a:stretch>
            <a:fillRect/>
          </a:stretch>
        </p:blipFill>
        <p:spPr>
          <a:xfrm rot="0">
            <a:off x="6229350" y="3895725"/>
            <a:ext cx="5419724" cy="1076324"/>
          </a:xfrm>
          <a:prstGeom prst="rect"/>
          <a:noFill/>
          <a:ln w="12700" cmpd="sng" cap="flat">
            <a:noFill/>
            <a:prstDash val="solid"/>
            <a:miter/>
          </a:ln>
        </p:spPr>
      </p:pic>
      <p:sp>
        <p:nvSpPr>
          <p:cNvPr id="522"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Product &amp; Category Analysis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523" name="Rectangle"/>
          <p:cNvSpPr>
            <a:spLocks/>
          </p:cNvSpPr>
          <p:nvPr/>
        </p:nvSpPr>
        <p:spPr>
          <a:xfrm rot="0">
            <a:off x="542925" y="933450"/>
            <a:ext cx="11106150" cy="19050"/>
          </a:xfrm>
          <a:prstGeom prst="rect"/>
          <a:solidFill>
            <a:srgbClr val="E2E8F0"/>
          </a:solidFill>
          <a:ln w="9525" cmpd="sng" cap="flat">
            <a:noFill/>
            <a:prstDash val="solid"/>
            <a:round/>
          </a:ln>
        </p:spPr>
      </p:sp>
      <p:sp>
        <p:nvSpPr>
          <p:cNvPr id="525" name="Rectangle"/>
          <p:cNvSpPr>
            <a:spLocks/>
          </p:cNvSpPr>
          <p:nvPr/>
        </p:nvSpPr>
        <p:spPr>
          <a:xfrm rot="0">
            <a:off x="10915650" y="6515100"/>
            <a:ext cx="733425"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24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graphicFrame>
        <p:nvGraphicFramePr>
          <p:cNvPr id="526" name="Sheet"/>
          <p:cNvGraphicFramePr>
            <a:graphicFrameLocks noGrp="1"/>
          </p:cNvGraphicFramePr>
          <p:nvPr>
            <p:extLst>
              <p:ext uri="{D42A27DB-BD31-4B8C-83A1-F6EECF244321}"/>
            </p:extLst>
          </p:nvPr>
        </p:nvGraphicFramePr>
        <p:xfrm>
          <a:off x="542925" y="1257300"/>
          <a:ext cx="5410199" cy="2676525"/>
        </p:xfrm>
        <a:graphic>
          <a:graphicData uri="http://schemas.openxmlformats.org/drawingml/2006/table">
            <a:tbl>
              <a:tblPr bandRow="1">
                <a:noFill/>
              </a:tblPr>
              <a:tblGrid>
                <a:gridCol w="1913610"/>
                <a:gridCol w="1582623"/>
                <a:gridCol w="1913915"/>
              </a:tblGrid>
              <a:tr h="382356">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Product Name</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Category</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Total Profit (₹)</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r>
              <a:tr h="382356">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Laptop</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Electronics</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₹1,126,725</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356">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Smartphone</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Electronics</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₹883,376</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2356">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Desk</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Furniture</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₹540,945</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356">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Monitor</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Electronics</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₹466,031</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2356">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Bookshelf</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Furniture</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₹351,655</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356">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Printer</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Not specified</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₹307,847</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bl>
          </a:graphicData>
        </a:graphic>
      </p:graphicFrame>
      <p:sp>
        <p:nvSpPr>
          <p:cNvPr id="527"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Category Breakdown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28" name="Rectangle"/>
          <p:cNvSpPr>
            <a:spLocks/>
          </p:cNvSpPr>
          <p:nvPr/>
        </p:nvSpPr>
        <p:spPr>
          <a:xfrm rot="0">
            <a:off x="6429375" y="4095750"/>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Product Performance</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29" name="Rectangle"/>
          <p:cNvSpPr>
            <a:spLocks/>
          </p:cNvSpPr>
          <p:nvPr/>
        </p:nvSpPr>
        <p:spPr>
          <a:xfrm rot="0">
            <a:off x="6429375" y="4371975"/>
            <a:ext cx="5019674"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334155"/>
                </a:solidFill>
                <a:latin typeface="Inter" pitchFamily="0" charset="0"/>
                <a:ea typeface="宋体" pitchFamily="0" charset="0"/>
                <a:cs typeface="Calibri" pitchFamily="0" charset="0"/>
              </a:rPr>
              <a:t>Laptop and Smartphone are included in the product performance comparison, with the shown profit values from the Tableau view.</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530" name="Rectangle"/>
          <p:cNvSpPr>
            <a:spLocks/>
          </p:cNvSpPr>
          <p:nvPr/>
        </p:nvSpPr>
        <p:spPr>
          <a:xfrm rot="0">
            <a:off x="6562725"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31" name="Rectangle"/>
          <p:cNvSpPr>
            <a:spLocks/>
          </p:cNvSpPr>
          <p:nvPr/>
        </p:nvSpPr>
        <p:spPr>
          <a:xfrm rot="0">
            <a:off x="6619874" y="16573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Electronics: The Tableau view shows ₹13,126,286 in revenue.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32" name="Rectangle"/>
          <p:cNvSpPr>
            <a:spLocks/>
          </p:cNvSpPr>
          <p:nvPr/>
        </p:nvSpPr>
        <p:spPr>
          <a:xfrm rot="0">
            <a:off x="6562725" y="24384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33" name="Rectangle"/>
          <p:cNvSpPr>
            <a:spLocks/>
          </p:cNvSpPr>
          <p:nvPr/>
        </p:nvSpPr>
        <p:spPr>
          <a:xfrm rot="0">
            <a:off x="6619874" y="243840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Furniture: The Tableau view shows ₹3,477,411 in revenue.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34" name="Rectangle"/>
          <p:cNvSpPr>
            <a:spLocks/>
          </p:cNvSpPr>
          <p:nvPr/>
        </p:nvSpPr>
        <p:spPr>
          <a:xfrm rot="0">
            <a:off x="6562725" y="29908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35" name="Rectangle"/>
          <p:cNvSpPr>
            <a:spLocks/>
          </p:cNvSpPr>
          <p:nvPr/>
        </p:nvSpPr>
        <p:spPr>
          <a:xfrm rot="0">
            <a:off x="6619874" y="2990850"/>
            <a:ext cx="4829175" cy="2286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Accessories: The Tableau view shows ₹1,059,990 in revenue.</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67347694"/>
      </p:ext>
    </p:extLst>
  </p:cSld>
  <p:clrMapOvr>
    <a:masterClrMapping/>
  </p:clrMapOvr>
</p:sld>
</file>

<file path=ppt/slides/slide2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536"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537"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538" name="Image" descr="image.png"/>
          <p:cNvPicPr>
            <a:picLocks noChangeAspect="1"/>
          </p:cNvPicPr>
          <p:nvPr/>
        </p:nvPicPr>
        <p:blipFill>
          <a:blip r:embed="rId3" cstate="print"/>
          <a:stretch>
            <a:fillRect/>
          </a:stretch>
        </p:blipFill>
        <p:spPr>
          <a:xfrm rot="0">
            <a:off x="6229350" y="1181100"/>
            <a:ext cx="5419724" cy="2790824"/>
          </a:xfrm>
          <a:prstGeom prst="rect"/>
          <a:noFill/>
          <a:ln w="12700" cmpd="sng" cap="flat">
            <a:noFill/>
            <a:prstDash val="solid"/>
            <a:miter/>
          </a:ln>
        </p:spPr>
      </p:pic>
      <p:sp>
        <p:nvSpPr>
          <p:cNvPr id="539"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Regional Profitability Comparison</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540" name="Rectangle"/>
          <p:cNvSpPr>
            <a:spLocks/>
          </p:cNvSpPr>
          <p:nvPr/>
        </p:nvSpPr>
        <p:spPr>
          <a:xfrm rot="0">
            <a:off x="542925" y="933450"/>
            <a:ext cx="11106150" cy="19050"/>
          </a:xfrm>
          <a:prstGeom prst="rect"/>
          <a:solidFill>
            <a:srgbClr val="E2E8F0"/>
          </a:solidFill>
          <a:ln w="9525" cmpd="sng" cap="flat">
            <a:noFill/>
            <a:prstDash val="solid"/>
            <a:round/>
          </a:ln>
        </p:spPr>
      </p:sp>
      <p:sp>
        <p:nvSpPr>
          <p:cNvPr id="542" name="Rectangle"/>
          <p:cNvSpPr>
            <a:spLocks/>
          </p:cNvSpPr>
          <p:nvPr/>
        </p:nvSpPr>
        <p:spPr>
          <a:xfrm rot="0">
            <a:off x="10925175" y="6515100"/>
            <a:ext cx="72389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25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graphicFrame>
        <p:nvGraphicFramePr>
          <p:cNvPr id="543" name="Sheet"/>
          <p:cNvGraphicFramePr>
            <a:graphicFrameLocks noGrp="1"/>
          </p:cNvGraphicFramePr>
          <p:nvPr>
            <p:extLst>
              <p:ext uri="{D42A27DB-BD31-4B8C-83A1-F6EECF244321}"/>
            </p:extLst>
          </p:nvPr>
        </p:nvGraphicFramePr>
        <p:xfrm>
          <a:off x="542925" y="1257300"/>
          <a:ext cx="5410199" cy="1914524"/>
        </p:xfrm>
        <a:graphic>
          <a:graphicData uri="http://schemas.openxmlformats.org/drawingml/2006/table">
            <a:tbl>
              <a:tblPr bandRow="1">
                <a:noFill/>
              </a:tblPr>
              <a:tblGrid>
                <a:gridCol w="1130630"/>
                <a:gridCol w="4279531"/>
                <a:gridCol w="126974"/>
              </a:tblGrid>
              <a:tr h="382899">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Region</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FFFFFF"/>
                          </a:solidFill>
                          <a:latin typeface="Inter SemiBold" pitchFamily="0" charset="0"/>
                          <a:ea typeface="宋体" pitchFamily="0" charset="0"/>
                          <a:cs typeface="Calibri" pitchFamily="0" charset="0"/>
                        </a:rPr>
                        <a:t>Total Profit (₹)</a:t>
                      </a: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endParaRPr lang="zh-CN" altLang="en-US" sz="1125"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r>
              <a:tr h="382899">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North</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₹1,149,739</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899">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South</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₹1,059,305</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2899">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East</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₹1,052,446</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2899">
                <a:tc>
                  <a:txBody>
                    <a:bodyPr/>
                    <a:lstStyle/>
                    <a:p>
                      <a:pPr marL="0" indent="0" algn="l" defTabSz="457200" eaLnBrk="1" latinLnBrk="0" hangingPunct="1">
                        <a:lnSpc>
                          <a:spcPct val="100000"/>
                        </a:lnSpc>
                        <a:spcBef>
                          <a:spcPts val="0"/>
                        </a:spcBef>
                        <a:spcAft>
                          <a:spcPts val="0"/>
                        </a:spcAft>
                        <a:buNone/>
                      </a:pPr>
                      <a:r>
                        <a:rPr lang="en-US" altLang="zh-CN" sz="1125" b="1" i="0" u="none" strike="noStrike" kern="1200" cap="none" spc="0" baseline="0">
                          <a:solidFill>
                            <a:srgbClr val="334155"/>
                          </a:solidFill>
                          <a:latin typeface="Inter" pitchFamily="0" charset="0"/>
                          <a:ea typeface="宋体" pitchFamily="0" charset="0"/>
                          <a:cs typeface="Calibri" pitchFamily="0" charset="0"/>
                        </a:rPr>
                        <a:t>West</a:t>
                      </a:r>
                      <a:endParaRPr lang="zh-CN" altLang="en-US" sz="1125"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125" b="0" i="0" u="none" strike="noStrike" kern="1200" cap="none" spc="0" baseline="0">
                          <a:solidFill>
                            <a:srgbClr val="334155"/>
                          </a:solidFill>
                          <a:latin typeface="Inter" pitchFamily="0" charset="0"/>
                          <a:ea typeface="宋体" pitchFamily="0" charset="0"/>
                          <a:cs typeface="Calibri" pitchFamily="0" charset="0"/>
                        </a:rPr>
                        <a:t>₹1,036,390</a:t>
                      </a: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endParaRPr lang="zh-CN" altLang="en-US" sz="1125"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bl>
          </a:graphicData>
        </a:graphic>
      </p:graphicFrame>
      <p:sp>
        <p:nvSpPr>
          <p:cNvPr id="544"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Regional Analysis Observations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45" name="Rectangle"/>
          <p:cNvSpPr>
            <a:spLocks/>
          </p:cNvSpPr>
          <p:nvPr/>
        </p:nvSpPr>
        <p:spPr>
          <a:xfrm rot="0">
            <a:off x="6562725"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46" name="Rectangle"/>
          <p:cNvSpPr>
            <a:spLocks/>
          </p:cNvSpPr>
          <p:nvPr/>
        </p:nvSpPr>
        <p:spPr>
          <a:xfrm rot="0">
            <a:off x="6619874" y="16573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The Tableau view compares profitability across North, South, East and West.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47" name="Rectangle"/>
          <p:cNvSpPr>
            <a:spLocks/>
          </p:cNvSpPr>
          <p:nvPr/>
        </p:nvSpPr>
        <p:spPr>
          <a:xfrm rot="0">
            <a:off x="6562725" y="22098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48" name="Rectangle"/>
          <p:cNvSpPr>
            <a:spLocks/>
          </p:cNvSpPr>
          <p:nvPr/>
        </p:nvSpPr>
        <p:spPr>
          <a:xfrm rot="0">
            <a:off x="6619874" y="22098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The reported regional profit values range from ₹1,036,390 to ₹1,149,739.</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49" name="Rectangle"/>
          <p:cNvSpPr>
            <a:spLocks/>
          </p:cNvSpPr>
          <p:nvPr/>
        </p:nvSpPr>
        <p:spPr>
          <a:xfrm rot="0">
            <a:off x="6562725" y="29908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50" name="Rectangle"/>
          <p:cNvSpPr>
            <a:spLocks/>
          </p:cNvSpPr>
          <p:nvPr/>
        </p:nvSpPr>
        <p:spPr>
          <a:xfrm rot="0">
            <a:off x="6619874" y="29908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The regional results provide a basis for comparing profitability across the four regions.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288153957"/>
      </p:ext>
    </p:extLst>
  </p:cSld>
  <p:clrMapOvr>
    <a:masterClrMapping/>
  </p:clrMapOvr>
</p:sld>
</file>

<file path=ppt/slides/slide2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551"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552"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553" name="Image" descr="image.png"/>
          <p:cNvPicPr>
            <a:picLocks noChangeAspect="1"/>
          </p:cNvPicPr>
          <p:nvPr/>
        </p:nvPicPr>
        <p:blipFill>
          <a:blip r:embed="rId3" cstate="print"/>
          <a:stretch>
            <a:fillRect/>
          </a:stretch>
        </p:blipFill>
        <p:spPr>
          <a:xfrm rot="0">
            <a:off x="542925" y="1181100"/>
            <a:ext cx="5419725" cy="1533524"/>
          </a:xfrm>
          <a:prstGeom prst="rect"/>
          <a:noFill/>
          <a:ln w="12700" cmpd="sng" cap="flat">
            <a:noFill/>
            <a:prstDash val="solid"/>
            <a:miter/>
          </a:ln>
        </p:spPr>
      </p:pic>
      <p:pic>
        <p:nvPicPr>
          <p:cNvPr id="554" name="Image" descr="image.png"/>
          <p:cNvPicPr>
            <a:picLocks noChangeAspect="1"/>
          </p:cNvPicPr>
          <p:nvPr/>
        </p:nvPicPr>
        <p:blipFill>
          <a:blip r:embed="rId4" cstate="print"/>
          <a:stretch>
            <a:fillRect/>
          </a:stretch>
        </p:blipFill>
        <p:spPr>
          <a:xfrm rot="0">
            <a:off x="6229350" y="1181100"/>
            <a:ext cx="5419724" cy="1533524"/>
          </a:xfrm>
          <a:prstGeom prst="rect"/>
          <a:noFill/>
          <a:ln w="12700" cmpd="sng" cap="flat">
            <a:noFill/>
            <a:prstDash val="solid"/>
            <a:miter/>
          </a:ln>
        </p:spPr>
      </p:pic>
      <p:pic>
        <p:nvPicPr>
          <p:cNvPr id="555" name="Image" descr="image.png"/>
          <p:cNvPicPr>
            <a:picLocks noChangeAspect="1"/>
          </p:cNvPicPr>
          <p:nvPr/>
        </p:nvPicPr>
        <p:blipFill>
          <a:blip r:embed="rId5" cstate="print"/>
          <a:stretch>
            <a:fillRect/>
          </a:stretch>
        </p:blipFill>
        <p:spPr>
          <a:xfrm rot="0">
            <a:off x="542925" y="3133725"/>
            <a:ext cx="5419725" cy="1533524"/>
          </a:xfrm>
          <a:prstGeom prst="rect"/>
          <a:noFill/>
          <a:ln w="12700" cmpd="sng" cap="flat">
            <a:noFill/>
            <a:prstDash val="solid"/>
            <a:miter/>
          </a:ln>
        </p:spPr>
      </p:pic>
      <p:pic>
        <p:nvPicPr>
          <p:cNvPr id="556" name="Image" descr="image.png"/>
          <p:cNvPicPr>
            <a:picLocks noChangeAspect="1"/>
          </p:cNvPicPr>
          <p:nvPr/>
        </p:nvPicPr>
        <p:blipFill>
          <a:blip r:embed="rId6" cstate="print"/>
          <a:stretch>
            <a:fillRect/>
          </a:stretch>
        </p:blipFill>
        <p:spPr>
          <a:xfrm rot="0">
            <a:off x="6229350" y="3133725"/>
            <a:ext cx="5419724" cy="1533524"/>
          </a:xfrm>
          <a:prstGeom prst="rect"/>
          <a:noFill/>
          <a:ln w="12700" cmpd="sng" cap="flat">
            <a:noFill/>
            <a:prstDash val="solid"/>
            <a:miter/>
          </a:ln>
        </p:spPr>
      </p:pic>
      <p:sp>
        <p:nvSpPr>
          <p:cNvPr id="557"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Project Challenges &amp; Solutions</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558" name="Rectangle"/>
          <p:cNvSpPr>
            <a:spLocks/>
          </p:cNvSpPr>
          <p:nvPr/>
        </p:nvSpPr>
        <p:spPr>
          <a:xfrm rot="0">
            <a:off x="542925" y="933450"/>
            <a:ext cx="11106150" cy="19050"/>
          </a:xfrm>
          <a:prstGeom prst="rect"/>
          <a:solidFill>
            <a:srgbClr val="E2E8F0"/>
          </a:solidFill>
          <a:ln w="9525" cmpd="sng" cap="flat">
            <a:noFill/>
            <a:prstDash val="solid"/>
            <a:round/>
          </a:ln>
        </p:spPr>
      </p:sp>
      <p:sp>
        <p:nvSpPr>
          <p:cNvPr id="560" name="Rectangle"/>
          <p:cNvSpPr>
            <a:spLocks/>
          </p:cNvSpPr>
          <p:nvPr/>
        </p:nvSpPr>
        <p:spPr>
          <a:xfrm rot="0">
            <a:off x="10925175" y="6515100"/>
            <a:ext cx="72389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26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561" name="Rectangle"/>
          <p:cNvSpPr>
            <a:spLocks/>
          </p:cNvSpPr>
          <p:nvPr/>
        </p:nvSpPr>
        <p:spPr>
          <a:xfrm rot="0">
            <a:off x="742949" y="1381124"/>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1. Tableau Aggregation Levels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62" name="Rectangle"/>
          <p:cNvSpPr>
            <a:spLocks/>
          </p:cNvSpPr>
          <p:nvPr/>
        </p:nvSpPr>
        <p:spPr>
          <a:xfrm rot="0">
            <a:off x="742949" y="1657350"/>
            <a:ext cx="5019675"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334155"/>
                </a:solidFill>
                <a:latin typeface="Inter" pitchFamily="0" charset="0"/>
                <a:ea typeface="宋体" pitchFamily="0" charset="0"/>
                <a:cs typeface="Calibri" pitchFamily="0" charset="0"/>
              </a:rPr>
              <a:t>Challenge:</a:t>
            </a:r>
            <a:r>
              <a:rPr lang="en-US" altLang="zh-CN" sz="1050" b="0" i="0" u="none" strike="noStrike" kern="1200" cap="none" spc="0" baseline="0">
                <a:solidFill>
                  <a:srgbClr val="334155"/>
                </a:solidFill>
                <a:latin typeface="Inter" pitchFamily="0" charset="0"/>
                <a:ea typeface="宋体" pitchFamily="0" charset="0"/>
                <a:cs typeface="Calibri" pitchFamily="0" charset="0"/>
              </a:rPr>
              <a:t> Initial confusion between row-level calculations and aggregate calculations when computing profit margins.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563" name="Rectangle"/>
          <p:cNvSpPr>
            <a:spLocks/>
          </p:cNvSpPr>
          <p:nvPr/>
        </p:nvSpPr>
        <p:spPr>
          <a:xfrm rot="0">
            <a:off x="742949" y="2114550"/>
            <a:ext cx="5019675"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16A34A"/>
                </a:solidFill>
                <a:latin typeface="Inter" pitchFamily="0" charset="0"/>
                <a:ea typeface="宋体" pitchFamily="0" charset="0"/>
                <a:cs typeface="Calibri" pitchFamily="0" charset="0"/>
              </a:rPr>
              <a:t>Solution:</a:t>
            </a:r>
            <a:r>
              <a:rPr lang="en-US" altLang="zh-CN" sz="1050" b="0" i="0" u="none" strike="noStrike" kern="1200" cap="none" spc="0" baseline="0">
                <a:solidFill>
                  <a:srgbClr val="16A34A"/>
                </a:solidFill>
                <a:latin typeface="Inter" pitchFamily="0" charset="0"/>
                <a:ea typeface="宋体" pitchFamily="0" charset="0"/>
                <a:cs typeface="Calibri" pitchFamily="0" charset="0"/>
              </a:rPr>
              <a:t> Used explicit aggregated expressions `SUM(Profit) / SUM(Revenue)` instead of row level division.</a:t>
            </a:r>
            <a:endParaRPr lang="zh-CN" altLang="en-US" sz="1050" b="0" i="0" u="none" strike="noStrike" kern="1200" cap="none" spc="0" baseline="0">
              <a:solidFill>
                <a:srgbClr val="16A34A"/>
              </a:solidFill>
              <a:latin typeface="Inter" pitchFamily="0" charset="0"/>
              <a:ea typeface="宋体" pitchFamily="0" charset="0"/>
              <a:cs typeface="Calibri" pitchFamily="0" charset="0"/>
            </a:endParaRPr>
          </a:p>
        </p:txBody>
      </p:sp>
      <p:sp>
        <p:nvSpPr>
          <p:cNvPr id="564" name="Rectangle"/>
          <p:cNvSpPr>
            <a:spLocks/>
          </p:cNvSpPr>
          <p:nvPr/>
        </p:nvSpPr>
        <p:spPr>
          <a:xfrm rot="0">
            <a:off x="6429375" y="1381124"/>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2. Distinct Customer Counting</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65" name="Rectangle"/>
          <p:cNvSpPr>
            <a:spLocks/>
          </p:cNvSpPr>
          <p:nvPr/>
        </p:nvSpPr>
        <p:spPr>
          <a:xfrm rot="0">
            <a:off x="6429375" y="1657350"/>
            <a:ext cx="5019674"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334155"/>
                </a:solidFill>
                <a:latin typeface="Inter" pitchFamily="0" charset="0"/>
                <a:ea typeface="宋体" pitchFamily="0" charset="0"/>
                <a:cs typeface="Calibri" pitchFamily="0" charset="0"/>
              </a:rPr>
              <a:t>Challenge:</a:t>
            </a:r>
            <a:r>
              <a:rPr lang="en-US" altLang="zh-CN" sz="1050" b="0" i="0" u="none" strike="noStrike" kern="1200" cap="none" spc="0" baseline="0">
                <a:solidFill>
                  <a:srgbClr val="334155"/>
                </a:solidFill>
                <a:latin typeface="Inter" pitchFamily="0" charset="0"/>
                <a:ea typeface="宋体" pitchFamily="0" charset="0"/>
                <a:cs typeface="Calibri" pitchFamily="0" charset="0"/>
              </a:rPr>
              <a:t> Standard `COUNT()` was double-counting customers with multiple transaction records.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566" name="Rectangle"/>
          <p:cNvSpPr>
            <a:spLocks/>
          </p:cNvSpPr>
          <p:nvPr/>
        </p:nvSpPr>
        <p:spPr>
          <a:xfrm rot="0">
            <a:off x="6429375" y="2114550"/>
            <a:ext cx="5019674"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16A34A"/>
                </a:solidFill>
                <a:latin typeface="Inter" pitchFamily="0" charset="0"/>
                <a:ea typeface="宋体" pitchFamily="0" charset="0"/>
                <a:cs typeface="Calibri" pitchFamily="0" charset="0"/>
              </a:rPr>
              <a:t>Solution:</a:t>
            </a:r>
            <a:r>
              <a:rPr lang="en-US" altLang="zh-CN" sz="1050" b="0" i="0" u="none" strike="noStrike" kern="1200" cap="none" spc="0" baseline="0">
                <a:solidFill>
                  <a:srgbClr val="16A34A"/>
                </a:solidFill>
                <a:latin typeface="Inter" pitchFamily="0" charset="0"/>
                <a:ea typeface="宋体" pitchFamily="0" charset="0"/>
                <a:cs typeface="Calibri" pitchFamily="0" charset="0"/>
              </a:rPr>
              <a:t> Applied `COUNTD()` (Count Distinct) formula in Tableau to count unique Customer IDs accurately.</a:t>
            </a:r>
            <a:endParaRPr lang="zh-CN" altLang="en-US" sz="1050" b="0" i="0" u="none" strike="noStrike" kern="1200" cap="none" spc="0" baseline="0">
              <a:solidFill>
                <a:srgbClr val="16A34A"/>
              </a:solidFill>
              <a:latin typeface="Inter" pitchFamily="0" charset="0"/>
              <a:ea typeface="宋体" pitchFamily="0" charset="0"/>
              <a:cs typeface="Calibri" pitchFamily="0" charset="0"/>
            </a:endParaRPr>
          </a:p>
        </p:txBody>
      </p:sp>
      <p:sp>
        <p:nvSpPr>
          <p:cNvPr id="567" name="Rectangle"/>
          <p:cNvSpPr>
            <a:spLocks/>
          </p:cNvSpPr>
          <p:nvPr/>
        </p:nvSpPr>
        <p:spPr>
          <a:xfrm rot="0">
            <a:off x="742949" y="3333749"/>
            <a:ext cx="5019675"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3. Layout Container Alignment</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68" name="Rectangle"/>
          <p:cNvSpPr>
            <a:spLocks/>
          </p:cNvSpPr>
          <p:nvPr/>
        </p:nvSpPr>
        <p:spPr>
          <a:xfrm rot="0">
            <a:off x="742949" y="3609975"/>
            <a:ext cx="5019675"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334155"/>
                </a:solidFill>
                <a:latin typeface="Inter" pitchFamily="0" charset="0"/>
                <a:ea typeface="宋体" pitchFamily="0" charset="0"/>
                <a:cs typeface="Calibri" pitchFamily="0" charset="0"/>
              </a:rPr>
              <a:t>Challenge:</a:t>
            </a:r>
            <a:r>
              <a:rPr lang="en-US" altLang="zh-CN" sz="1050" b="0" i="0" u="none" strike="noStrike" kern="1200" cap="none" spc="0" baseline="0">
                <a:solidFill>
                  <a:srgbClr val="334155"/>
                </a:solidFill>
                <a:latin typeface="Inter" pitchFamily="0" charset="0"/>
                <a:ea typeface="宋体" pitchFamily="0" charset="0"/>
                <a:cs typeface="Calibri" pitchFamily="0" charset="0"/>
              </a:rPr>
              <a:t> Charts overlapping and misaligning when combining multiple sheets onto dashboard canvas.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569" name="Rectangle"/>
          <p:cNvSpPr>
            <a:spLocks/>
          </p:cNvSpPr>
          <p:nvPr/>
        </p:nvSpPr>
        <p:spPr>
          <a:xfrm rot="0">
            <a:off x="742949" y="4067175"/>
            <a:ext cx="5019675"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16A34A"/>
                </a:solidFill>
                <a:latin typeface="Inter" pitchFamily="0" charset="0"/>
                <a:ea typeface="宋体" pitchFamily="0" charset="0"/>
                <a:cs typeface="Calibri" pitchFamily="0" charset="0"/>
              </a:rPr>
              <a:t>Solution:</a:t>
            </a:r>
            <a:r>
              <a:rPr lang="en-US" altLang="zh-CN" sz="1050" b="0" i="0" u="none" strike="noStrike" kern="1200" cap="none" spc="0" baseline="0">
                <a:solidFill>
                  <a:srgbClr val="16A34A"/>
                </a:solidFill>
                <a:latin typeface="Inter" pitchFamily="0" charset="0"/>
                <a:ea typeface="宋体" pitchFamily="0" charset="0"/>
                <a:cs typeface="Calibri" pitchFamily="0" charset="0"/>
              </a:rPr>
              <a:t> Utilized Tableau's Horizontal and Vertical layout containers and fixed padding controls.</a:t>
            </a:r>
            <a:endParaRPr lang="zh-CN" altLang="en-US" sz="1050" b="0" i="0" u="none" strike="noStrike" kern="1200" cap="none" spc="0" baseline="0">
              <a:solidFill>
                <a:srgbClr val="16A34A"/>
              </a:solidFill>
              <a:latin typeface="Inter" pitchFamily="0" charset="0"/>
              <a:ea typeface="宋体" pitchFamily="0" charset="0"/>
              <a:cs typeface="Calibri" pitchFamily="0" charset="0"/>
            </a:endParaRPr>
          </a:p>
        </p:txBody>
      </p:sp>
      <p:sp>
        <p:nvSpPr>
          <p:cNvPr id="570" name="Rectangle"/>
          <p:cNvSpPr>
            <a:spLocks/>
          </p:cNvSpPr>
          <p:nvPr/>
        </p:nvSpPr>
        <p:spPr>
          <a:xfrm rot="0">
            <a:off x="6429375" y="3333749"/>
            <a:ext cx="5019674" cy="2095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4. Metric Verification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71" name="Rectangle"/>
          <p:cNvSpPr>
            <a:spLocks/>
          </p:cNvSpPr>
          <p:nvPr/>
        </p:nvSpPr>
        <p:spPr>
          <a:xfrm rot="0">
            <a:off x="6429375" y="3609975"/>
            <a:ext cx="5019674" cy="2000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334155"/>
                </a:solidFill>
                <a:latin typeface="Inter" pitchFamily="0" charset="0"/>
                <a:ea typeface="宋体" pitchFamily="0" charset="0"/>
                <a:cs typeface="Calibri" pitchFamily="0" charset="0"/>
              </a:rPr>
              <a:t>Challenge:</a:t>
            </a:r>
            <a:r>
              <a:rPr lang="en-US" altLang="zh-CN" sz="1050" b="0" i="0" u="none" strike="noStrike" kern="1200" cap="none" spc="0" baseline="0">
                <a:solidFill>
                  <a:srgbClr val="334155"/>
                </a:solidFill>
                <a:latin typeface="Inter" pitchFamily="0" charset="0"/>
                <a:ea typeface="宋体" pitchFamily="0" charset="0"/>
                <a:cs typeface="Calibri" pitchFamily="0" charset="0"/>
              </a:rPr>
              <a:t> Ensuring Tableau visual outputs matched original dataset figures.</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572" name="Rectangle"/>
          <p:cNvSpPr>
            <a:spLocks/>
          </p:cNvSpPr>
          <p:nvPr/>
        </p:nvSpPr>
        <p:spPr>
          <a:xfrm rot="0">
            <a:off x="6429375" y="3867150"/>
            <a:ext cx="5019674" cy="4000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575"/>
              </a:lnSpc>
              <a:spcBef>
                <a:spcPts val="0"/>
              </a:spcBef>
              <a:spcAft>
                <a:spcPts val="0"/>
              </a:spcAft>
              <a:buNone/>
            </a:pPr>
            <a:r>
              <a:rPr lang="en-US" altLang="zh-CN" sz="1050" b="1" i="0" u="none" strike="noStrike" kern="1200" cap="none" spc="0" baseline="0">
                <a:solidFill>
                  <a:srgbClr val="16A34A"/>
                </a:solidFill>
                <a:latin typeface="Inter" pitchFamily="0" charset="0"/>
                <a:ea typeface="宋体" pitchFamily="0" charset="0"/>
                <a:cs typeface="Calibri" pitchFamily="0" charset="0"/>
              </a:rPr>
              <a:t>Solution:</a:t>
            </a:r>
            <a:r>
              <a:rPr lang="en-US" altLang="zh-CN" sz="1050" b="0" i="0" u="none" strike="noStrike" kern="1200" cap="none" spc="0" baseline="0">
                <a:solidFill>
                  <a:srgbClr val="16A34A"/>
                </a:solidFill>
                <a:latin typeface="Inter" pitchFamily="0" charset="0"/>
                <a:ea typeface="宋体" pitchFamily="0" charset="0"/>
                <a:cs typeface="Calibri" pitchFamily="0" charset="0"/>
              </a:rPr>
              <a:t> Cross-checked summary totals in Excel Pivot Tables against Tableau KPI cards.</a:t>
            </a:r>
            <a:endParaRPr lang="zh-CN" altLang="en-US" sz="1050" b="0" i="0" u="none" strike="noStrike" kern="1200" cap="none" spc="0" baseline="0">
              <a:solidFill>
                <a:srgbClr val="16A34A"/>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881740284"/>
      </p:ext>
    </p:extLst>
  </p:cSld>
  <p:clrMapOvr>
    <a:masterClrMapping/>
  </p:clrMapOvr>
</p:sld>
</file>

<file path=ppt/slides/slide27.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573"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574"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sp>
        <p:nvSpPr>
          <p:cNvPr id="575"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12-Day Project Work Log</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576" name="Rectangle"/>
          <p:cNvSpPr>
            <a:spLocks/>
          </p:cNvSpPr>
          <p:nvPr/>
        </p:nvSpPr>
        <p:spPr>
          <a:xfrm rot="0">
            <a:off x="542925" y="933450"/>
            <a:ext cx="11106150" cy="19050"/>
          </a:xfrm>
          <a:prstGeom prst="rect"/>
          <a:solidFill>
            <a:srgbClr val="E2E8F0"/>
          </a:solidFill>
          <a:ln w="9525" cmpd="sng" cap="flat">
            <a:noFill/>
            <a:prstDash val="solid"/>
            <a:round/>
          </a:ln>
        </p:spPr>
      </p:sp>
      <p:graphicFrame>
        <p:nvGraphicFramePr>
          <p:cNvPr id="577" name="Sheet"/>
          <p:cNvGraphicFramePr>
            <a:graphicFrameLocks noGrp="1"/>
          </p:cNvGraphicFramePr>
          <p:nvPr>
            <p:extLst>
              <p:ext uri="{D42A27DB-BD31-4B8C-83A1-F6EECF244321}"/>
            </p:extLst>
          </p:nvPr>
        </p:nvGraphicFramePr>
        <p:xfrm>
          <a:off x="542925" y="1257300"/>
          <a:ext cx="11096623" cy="5048250"/>
        </p:xfrm>
        <a:graphic>
          <a:graphicData uri="http://schemas.openxmlformats.org/drawingml/2006/table">
            <a:tbl>
              <a:tblPr bandRow="1">
                <a:noFill/>
              </a:tblPr>
              <a:tblGrid>
                <a:gridCol w="1109637"/>
                <a:gridCol w="3883799"/>
                <a:gridCol w="6103124"/>
              </a:tblGrid>
              <a:tr h="388309">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FFFFFF"/>
                          </a:solidFill>
                          <a:latin typeface="Inter SemiBold" pitchFamily="0" charset="0"/>
                          <a:ea typeface="宋体" pitchFamily="0" charset="0"/>
                          <a:cs typeface="Calibri" pitchFamily="0" charset="0"/>
                        </a:rPr>
                        <a:t>Day</a:t>
                      </a:r>
                      <a:endParaRPr lang="zh-CN" altLang="en-US" sz="1012"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FFFFFF"/>
                          </a:solidFill>
                          <a:latin typeface="Inter SemiBold" pitchFamily="0" charset="0"/>
                          <a:ea typeface="宋体" pitchFamily="0" charset="0"/>
                          <a:cs typeface="Calibri" pitchFamily="0" charset="0"/>
                        </a:rPr>
                        <a:t>Task / Activity</a:t>
                      </a:r>
                      <a:endParaRPr lang="zh-CN" altLang="en-US" sz="1012"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FFFFFF"/>
                          </a:solidFill>
                          <a:latin typeface="Inter SemiBold" pitchFamily="0" charset="0"/>
                          <a:ea typeface="宋体" pitchFamily="0" charset="0"/>
                          <a:cs typeface="Calibri" pitchFamily="0" charset="0"/>
                        </a:rPr>
                        <a:t>Details &amp; Deliverables</a:t>
                      </a:r>
                      <a:endParaRPr lang="zh-CN" altLang="en-US" sz="1012" b="0" i="0" u="none" strike="noStrike" kern="1200" cap="none" spc="0" baseline="0">
                        <a:solidFill>
                          <a:srgbClr val="FFFFFF"/>
                        </a:solidFill>
                        <a:latin typeface="Inter SemiBold"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1E3A8A"/>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1</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Requirement Understanding</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Finalized project title, research scope, and objective outlines with faculty guide.</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2</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Dataset Collection &amp; Review</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Received ABC Retail dataset; inspected columns and basic transactional attributes.</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3</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Data Preparation in Excel</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Checked data types, verified numeric fields, and formatted date columns in Excel.</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4</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Tableau Connection</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Connected dataset to Tableau Desktop; verified dimensions and measures in Data Source tab.</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5</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Worksheet Creation (Sales)</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Created monthly revenue bar charts and revenue by region bar charts.</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6</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Calculated Fields Setup</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Wrote Tableau formulas for Profit, Profit Margin %, Distinct Customers, and Churn Rate.</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7</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Dashboard 1 Construction</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Built "Sales &amp; Customer Performance Dashboard" combining sales, category, and regional sheets.</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8</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Dashboard 2 Construction</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Built "Customer Analytics Dashboard" featuring churn rate, new acquisition, and regional counts.</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9</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Dashboard 3 Construction</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0" charset="0"/>
                          <a:ea typeface="宋体" pitchFamily="0" charset="0"/>
                          <a:cs typeface="Calibri" pitchFamily="0" charset="0"/>
                        </a:rPr>
                        <a:t>Built "Financial Performance Dashboard" focusing on profit margins, product performance, and cost trends.</a:t>
                      </a:r>
                      <a:endParaRPr lang="zh-CN" altLang="en-US" sz="1800" b="0" i="0" u="none" strike="noStrike" kern="1200" cap="none" spc="0" baseline="0">
                        <a:solidFill>
                          <a:srgbClr val="000000"/>
                        </a:solidFill>
                        <a:latin typeface="Calibri"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10</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Formatting &amp; Validation</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Adjusted dashboard colors, axis labels, titles, and cross-checked metrics against Excel totals.</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r h="388309">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11</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Analysis &amp; Observations</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c>
                  <a:txBody>
                    <a:bodyPr/>
                    <a:lstStyle/>
                    <a:p>
                      <a:pPr marL="0" indent="0" algn="l" defTabSz="457200"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0" charset="0"/>
                          <a:ea typeface="宋体" pitchFamily="0" charset="0"/>
                          <a:cs typeface="Calibri" pitchFamily="0" charset="0"/>
                        </a:rPr>
                        <a:t>Drafted written interpretations of dashboard charts, regional profitability and product performance.</a:t>
                      </a:r>
                      <a:endParaRPr lang="zh-CN" altLang="en-US" sz="1800" b="0" i="0" u="none" strike="noStrike" kern="1200" cap="none" spc="0" baseline="0">
                        <a:solidFill>
                          <a:srgbClr val="000000"/>
                        </a:solidFill>
                        <a:latin typeface="Calibri"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FFFFF"/>
                    </a:solidFill>
                  </a:tcPr>
                </a:tc>
              </a:tr>
              <a:tr h="388318">
                <a:tc>
                  <a:txBody>
                    <a:bodyPr/>
                    <a:lstStyle/>
                    <a:p>
                      <a:pPr marL="0" indent="0" algn="l" defTabSz="457200" eaLnBrk="1" latinLnBrk="0" hangingPunct="1">
                        <a:lnSpc>
                          <a:spcPct val="100000"/>
                        </a:lnSpc>
                        <a:spcBef>
                          <a:spcPts val="0"/>
                        </a:spcBef>
                        <a:spcAft>
                          <a:spcPts val="0"/>
                        </a:spcAft>
                        <a:buNone/>
                      </a:pPr>
                      <a:r>
                        <a:rPr lang="en-US" altLang="zh-CN" sz="1012" b="1" i="0" u="none" strike="noStrike" kern="1200" cap="none" spc="0" baseline="0">
                          <a:solidFill>
                            <a:srgbClr val="334155"/>
                          </a:solidFill>
                          <a:latin typeface="Inter" pitchFamily="0" charset="0"/>
                          <a:ea typeface="宋体" pitchFamily="0" charset="0"/>
                          <a:cs typeface="Calibri" pitchFamily="0" charset="0"/>
                        </a:rPr>
                        <a:t>Day 12</a:t>
                      </a:r>
                      <a:endParaRPr lang="zh-CN" altLang="en-US" sz="1012" b="1"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012" b="0" i="0" u="none" strike="noStrike" kern="1200" cap="none" spc="0" baseline="0">
                          <a:solidFill>
                            <a:srgbClr val="334155"/>
                          </a:solidFill>
                          <a:latin typeface="Inter" pitchFamily="0" charset="0"/>
                          <a:ea typeface="宋体" pitchFamily="0" charset="0"/>
                          <a:cs typeface="Calibri" pitchFamily="0" charset="0"/>
                        </a:rPr>
                        <a:t>Presentation &amp; Final Report</a:t>
                      </a:r>
                      <a:endParaRPr lang="zh-CN" altLang="en-US" sz="1012" b="0" i="0" u="none" strike="noStrike" kern="1200" cap="none" spc="0" baseline="0">
                        <a:solidFill>
                          <a:srgbClr val="334155"/>
                        </a:solidFill>
                        <a:latin typeface="Inter"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c>
                  <a:txBody>
                    <a:bodyPr/>
                    <a:lstStyle/>
                    <a:p>
                      <a:pPr marL="0" indent="0" algn="l" defTabSz="457200"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alibri" pitchFamily="0" charset="0"/>
                          <a:ea typeface="宋体" pitchFamily="0" charset="0"/>
                          <a:cs typeface="Calibri" pitchFamily="0" charset="0"/>
                        </a:rPr>
                        <a:t>Compiled final internship presentation and project report for college submission and viva.</a:t>
                      </a:r>
                      <a:endParaRPr lang="zh-CN" altLang="en-US" sz="1800" b="0" i="0" u="none" strike="noStrike" kern="1200" cap="none" spc="0" baseline="0">
                        <a:solidFill>
                          <a:srgbClr val="000000"/>
                        </a:solidFill>
                        <a:latin typeface="Calibri" pitchFamily="0" charset="0"/>
                        <a:ea typeface="宋体" pitchFamily="0" charset="0"/>
                        <a:cs typeface="Calibri" pitchFamily="0" charset="0"/>
                      </a:endParaRPr>
                    </a:p>
                  </a:txBody>
                  <a:tcPr marL="63500" marT="25400" marR="63500" marB="25400" vert="horz" anchor="ctr">
                    <a:lnL>
                      <a:noFill/>
                    </a:lnL>
                    <a:lnR>
                      <a:noFill/>
                    </a:lnR>
                    <a:lnT>
                      <a:noFill/>
                    </a:lnT>
                    <a:lnB>
                      <a:noFill/>
                    </a:lnB>
                    <a:solidFill>
                      <a:srgbClr val="F8FAFC"/>
                    </a:solidFill>
                  </a:tcPr>
                </a:tc>
              </a:tr>
            </a:tbl>
          </a:graphicData>
        </a:graphic>
      </p:graphicFrame>
      <p:sp>
        <p:nvSpPr>
          <p:cNvPr id="579" name="Rectangle"/>
          <p:cNvSpPr>
            <a:spLocks/>
          </p:cNvSpPr>
          <p:nvPr/>
        </p:nvSpPr>
        <p:spPr>
          <a:xfrm rot="0">
            <a:off x="10925175" y="6515100"/>
            <a:ext cx="72389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27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Tree>
    <p:extLst>
      <p:ext uri="{BB962C8B-B14F-4D97-AF65-F5344CB8AC3E}">
        <p14:creationId xmlns:p14="http://schemas.microsoft.com/office/powerpoint/2010/main" val="1019960224"/>
      </p:ext>
    </p:extLst>
  </p:cSld>
  <p:clrMapOvr>
    <a:masterClrMapping/>
  </p:clrMapOvr>
</p:sld>
</file>

<file path=ppt/slides/slide2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580" name="Image" descr="image.png"/>
          <p:cNvPicPr>
            <a:picLocks noChangeAspect="1"/>
          </p:cNvPicPr>
          <p:nvPr/>
        </p:nvPicPr>
        <p:blipFill>
          <a:blip r:embed="rId1" cstate="print"/>
          <a:stretch>
            <a:fillRect/>
          </a:stretch>
        </p:blipFill>
        <p:spPr>
          <a:xfrm rot="0">
            <a:off x="0" y="0"/>
            <a:ext cx="12192000" cy="6858000"/>
          </a:xfrm>
          <a:prstGeom prst="rect"/>
          <a:noFill/>
          <a:ln w="12700" cmpd="sng" cap="flat">
            <a:noFill/>
            <a:prstDash val="solid"/>
            <a:miter/>
          </a:ln>
        </p:spPr>
      </p:pic>
      <p:pic>
        <p:nvPicPr>
          <p:cNvPr id="581" name="Image" descr="image.png"/>
          <p:cNvPicPr>
            <a:picLocks noChangeAspect="1"/>
          </p:cNvPicPr>
          <p:nvPr/>
        </p:nvPicPr>
        <p:blipFill>
          <a:blip r:embed="rId2" cstate="print"/>
          <a:stretch>
            <a:fillRect/>
          </a:stretch>
        </p:blipFill>
        <p:spPr>
          <a:xfrm rot="0">
            <a:off x="542925" y="6410325"/>
            <a:ext cx="11106150" cy="247649"/>
          </a:xfrm>
          <a:prstGeom prst="rect"/>
          <a:noFill/>
          <a:ln w="12700" cmpd="sng" cap="flat">
            <a:noFill/>
            <a:prstDash val="solid"/>
            <a:miter/>
          </a:ln>
        </p:spPr>
      </p:pic>
      <p:pic>
        <p:nvPicPr>
          <p:cNvPr id="582" name="Image" descr="image.png"/>
          <p:cNvPicPr>
            <a:picLocks noChangeAspect="1"/>
          </p:cNvPicPr>
          <p:nvPr/>
        </p:nvPicPr>
        <p:blipFill>
          <a:blip r:embed="rId3" cstate="print"/>
          <a:stretch>
            <a:fillRect/>
          </a:stretch>
        </p:blipFill>
        <p:spPr>
          <a:xfrm rot="0">
            <a:off x="542925" y="1181100"/>
            <a:ext cx="5419725" cy="3800474"/>
          </a:xfrm>
          <a:prstGeom prst="rect"/>
          <a:noFill/>
          <a:ln w="12700" cmpd="sng" cap="flat">
            <a:noFill/>
            <a:prstDash val="solid"/>
            <a:miter/>
          </a:ln>
        </p:spPr>
      </p:pic>
      <p:pic>
        <p:nvPicPr>
          <p:cNvPr id="583" name="Image" descr="image.png"/>
          <p:cNvPicPr>
            <a:picLocks noChangeAspect="1"/>
          </p:cNvPicPr>
          <p:nvPr/>
        </p:nvPicPr>
        <p:blipFill>
          <a:blip r:embed="rId4" cstate="print"/>
          <a:stretch>
            <a:fillRect/>
          </a:stretch>
        </p:blipFill>
        <p:spPr>
          <a:xfrm rot="0">
            <a:off x="6229350" y="1181100"/>
            <a:ext cx="5419724" cy="3800474"/>
          </a:xfrm>
          <a:prstGeom prst="rect"/>
          <a:noFill/>
          <a:ln w="12700" cmpd="sng" cap="flat">
            <a:noFill/>
            <a:prstDash val="solid"/>
            <a:miter/>
          </a:ln>
        </p:spPr>
      </p:pic>
      <p:sp>
        <p:nvSpPr>
          <p:cNvPr id="584" name="Rectangle"/>
          <p:cNvSpPr>
            <a:spLocks/>
          </p:cNvSpPr>
          <p:nvPr/>
        </p:nvSpPr>
        <p:spPr>
          <a:xfrm rot="0">
            <a:off x="542925" y="466725"/>
            <a:ext cx="11649075" cy="361950"/>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1E3A8A"/>
                </a:solidFill>
                <a:latin typeface="Inter" pitchFamily="0" charset="0"/>
                <a:ea typeface="宋体" pitchFamily="0" charset="0"/>
                <a:cs typeface="Calibri" pitchFamily="0" charset="0"/>
              </a:rPr>
              <a:t>Recommendations &amp; Conclusion</a:t>
            </a:r>
            <a:endParaRPr lang="zh-CN" altLang="en-US" sz="2400" b="1" i="0" u="none" strike="noStrike" kern="1200" cap="none" spc="0" baseline="0">
              <a:solidFill>
                <a:srgbClr val="1E3A8A"/>
              </a:solidFill>
              <a:latin typeface="Inter" pitchFamily="0" charset="0"/>
              <a:ea typeface="宋体" pitchFamily="0" charset="0"/>
              <a:cs typeface="Calibri" pitchFamily="0" charset="0"/>
            </a:endParaRPr>
          </a:p>
        </p:txBody>
      </p:sp>
      <p:sp>
        <p:nvSpPr>
          <p:cNvPr id="585" name="Rectangle"/>
          <p:cNvSpPr>
            <a:spLocks/>
          </p:cNvSpPr>
          <p:nvPr/>
        </p:nvSpPr>
        <p:spPr>
          <a:xfrm rot="0">
            <a:off x="542925" y="933450"/>
            <a:ext cx="11106150" cy="19050"/>
          </a:xfrm>
          <a:prstGeom prst="rect"/>
          <a:solidFill>
            <a:srgbClr val="E2E8F0"/>
          </a:solidFill>
          <a:ln w="9525" cmpd="sng" cap="flat">
            <a:noFill/>
            <a:prstDash val="solid"/>
            <a:round/>
          </a:ln>
        </p:spPr>
      </p:sp>
      <p:sp>
        <p:nvSpPr>
          <p:cNvPr id="587" name="Rectangle"/>
          <p:cNvSpPr>
            <a:spLocks/>
          </p:cNvSpPr>
          <p:nvPr/>
        </p:nvSpPr>
        <p:spPr>
          <a:xfrm rot="0">
            <a:off x="10925175" y="6515100"/>
            <a:ext cx="723899" cy="123824"/>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900" b="0" i="0" u="none" strike="noStrike" kern="1200" cap="none" spc="0" baseline="0">
                <a:solidFill>
                  <a:srgbClr val="64748B"/>
                </a:solidFill>
                <a:latin typeface="Inter" pitchFamily="0" charset="0"/>
                <a:ea typeface="宋体" pitchFamily="0" charset="0"/>
                <a:cs typeface="Calibri" pitchFamily="0" charset="0"/>
              </a:rPr>
              <a:t>Slide 28 of 28</a:t>
            </a:r>
            <a:endParaRPr lang="zh-CN" altLang="en-US" sz="900" b="0" i="0" u="none" strike="noStrike" kern="1200" cap="none" spc="0" baseline="0">
              <a:solidFill>
                <a:srgbClr val="64748B"/>
              </a:solidFill>
              <a:latin typeface="Inter" pitchFamily="0" charset="0"/>
              <a:ea typeface="宋体" pitchFamily="0" charset="0"/>
              <a:cs typeface="Calibri" pitchFamily="0" charset="0"/>
            </a:endParaRPr>
          </a:p>
        </p:txBody>
      </p:sp>
      <p:sp>
        <p:nvSpPr>
          <p:cNvPr id="588" name="Rectangle"/>
          <p:cNvSpPr>
            <a:spLocks/>
          </p:cNvSpPr>
          <p:nvPr/>
        </p:nvSpPr>
        <p:spPr>
          <a:xfrm rot="0">
            <a:off x="742949" y="1381124"/>
            <a:ext cx="5019675" cy="209550"/>
          </a:xfrm>
          <a:prstGeom prst="rect"/>
          <a:noFill/>
          <a:ln w="12700" cmpd="sng" cap="flat">
            <a:noFill/>
            <a:prstDash val="solid"/>
            <a:miter/>
          </a:ln>
        </p:spPr>
        <p:txBody>
          <a:bodyPr vert="horz" wrap="square" lIns="228600"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Practical Recommendations</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89" name="Rectangle"/>
          <p:cNvSpPr>
            <a:spLocks/>
          </p:cNvSpPr>
          <p:nvPr/>
        </p:nvSpPr>
        <p:spPr>
          <a:xfrm rot="0">
            <a:off x="6429375" y="1381124"/>
            <a:ext cx="5019674" cy="209550"/>
          </a:xfrm>
          <a:prstGeom prst="rect"/>
          <a:noFill/>
          <a:ln w="12700" cmpd="sng" cap="flat">
            <a:noFill/>
            <a:prstDash val="solid"/>
            <a:miter/>
          </a:ln>
        </p:spPr>
        <p:txBody>
          <a:bodyPr vert="horz" wrap="square" lIns="276225" tIns="0" rIns="0" bIns="0" anchor="t" anchorCtr="0">
            <a:prstTxWarp prst="textNoShape"/>
            <a:spAutoFit/>
          </a:bodyPr>
          <a:lstStyle/>
          <a:p>
            <a:pPr marL="0" indent="0" algn="l">
              <a:lnSpc>
                <a:spcPct val="100000"/>
              </a:lnSpc>
              <a:spcBef>
                <a:spcPts val="0"/>
              </a:spcBef>
              <a:spcAft>
                <a:spcPts val="0"/>
              </a:spcAft>
              <a:buNone/>
            </a:pPr>
            <a:r>
              <a:rPr lang="en-US" altLang="zh-CN" sz="1350" b="1" i="0" u="none" strike="noStrike" kern="1200" cap="none" spc="0" baseline="0">
                <a:solidFill>
                  <a:srgbClr val="1E3A8A"/>
                </a:solidFill>
                <a:latin typeface="Inter" pitchFamily="0" charset="0"/>
                <a:ea typeface="宋体" pitchFamily="0" charset="0"/>
                <a:cs typeface="Calibri" pitchFamily="0" charset="0"/>
              </a:rPr>
              <a:t>Project Conclusion</a:t>
            </a:r>
            <a:endParaRPr lang="zh-CN" altLang="en-US" sz="1350" b="1" i="0" u="none" strike="noStrike" kern="1200" cap="none" spc="0" baseline="0">
              <a:solidFill>
                <a:srgbClr val="1E3A8A"/>
              </a:solidFill>
              <a:latin typeface="Inter" pitchFamily="0" charset="0"/>
              <a:ea typeface="宋体" pitchFamily="0" charset="0"/>
              <a:cs typeface="Calibri" pitchFamily="0" charset="0"/>
            </a:endParaRPr>
          </a:p>
        </p:txBody>
      </p:sp>
      <p:sp>
        <p:nvSpPr>
          <p:cNvPr id="590" name="Rectangle"/>
          <p:cNvSpPr>
            <a:spLocks/>
          </p:cNvSpPr>
          <p:nvPr/>
        </p:nvSpPr>
        <p:spPr>
          <a:xfrm rot="0">
            <a:off x="6429375" y="1657350"/>
            <a:ext cx="5019674" cy="426541"/>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679"/>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This project demonstrated how transaction data from ABC Retail can be converted into useful business information using Tableau.</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591" name="Rectangle"/>
          <p:cNvSpPr>
            <a:spLocks/>
          </p:cNvSpPr>
          <p:nvPr/>
        </p:nvSpPr>
        <p:spPr>
          <a:xfrm rot="0">
            <a:off x="6429375" y="2179141"/>
            <a:ext cx="5019674" cy="426466"/>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679"/>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The three dashboards helped me understand sales trends, product profitability, regional performance and customer information.</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sp>
        <p:nvSpPr>
          <p:cNvPr id="592" name="Rectangle"/>
          <p:cNvSpPr>
            <a:spLocks/>
          </p:cNvSpPr>
          <p:nvPr/>
        </p:nvSpPr>
        <p:spPr>
          <a:xfrm rot="0">
            <a:off x="6429375" y="2914203"/>
            <a:ext cx="5019674" cy="426466"/>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679"/>
              </a:lnSpc>
              <a:spcBef>
                <a:spcPts val="0"/>
              </a:spcBef>
              <a:spcAft>
                <a:spcPts val="0"/>
              </a:spcAft>
              <a:buNone/>
            </a:pPr>
            <a:r>
              <a:rPr lang="en-US" altLang="zh-CN" sz="1050" b="0" i="0" u="none" strike="noStrike" kern="1200" cap="none" spc="0" baseline="0">
                <a:solidFill>
                  <a:srgbClr val="334155"/>
                </a:solidFill>
                <a:latin typeface="Inter" pitchFamily="0" charset="0"/>
                <a:ea typeface="宋体" pitchFamily="0" charset="0"/>
                <a:cs typeface="Calibri" pitchFamily="0" charset="0"/>
              </a:rPr>
              <a:t>The project improved my practical understanding of Excel, Tableau, calculated fields and dashboard creation.</a:t>
            </a:r>
            <a:endParaRPr lang="zh-CN" altLang="en-US" sz="1050" b="0" i="0" u="none" strike="noStrike" kern="1200" cap="none" spc="0" baseline="0">
              <a:solidFill>
                <a:srgbClr val="334155"/>
              </a:solidFill>
              <a:latin typeface="Inter" pitchFamily="0" charset="0"/>
              <a:ea typeface="宋体" pitchFamily="0" charset="0"/>
              <a:cs typeface="Calibri" pitchFamily="0" charset="0"/>
            </a:endParaRPr>
          </a:p>
        </p:txBody>
      </p:sp>
      <p:pic>
        <p:nvPicPr>
          <p:cNvPr id="593" name="Image" descr="image.png"/>
          <p:cNvPicPr>
            <a:picLocks noChangeAspect="1"/>
          </p:cNvPicPr>
          <p:nvPr/>
        </p:nvPicPr>
        <p:blipFill>
          <a:blip r:embed="rId5" cstate="print"/>
          <a:stretch>
            <a:fillRect/>
          </a:stretch>
        </p:blipFill>
        <p:spPr>
          <a:xfrm rot="0">
            <a:off x="742949" y="1400174"/>
            <a:ext cx="171450" cy="171450"/>
          </a:xfrm>
          <a:prstGeom prst="rect"/>
          <a:noFill/>
          <a:ln w="12700" cmpd="sng" cap="flat">
            <a:noFill/>
            <a:prstDash val="solid"/>
            <a:miter/>
          </a:ln>
        </p:spPr>
      </p:pic>
      <p:sp>
        <p:nvSpPr>
          <p:cNvPr id="594" name="Rectangle"/>
          <p:cNvSpPr>
            <a:spLocks/>
          </p:cNvSpPr>
          <p:nvPr/>
        </p:nvSpPr>
        <p:spPr>
          <a:xfrm rot="0">
            <a:off x="876299" y="16573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95" name="Rectangle"/>
          <p:cNvSpPr>
            <a:spLocks/>
          </p:cNvSpPr>
          <p:nvPr/>
        </p:nvSpPr>
        <p:spPr>
          <a:xfrm rot="0">
            <a:off x="933450" y="16573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Reduce Customer Churn:</a:t>
            </a:r>
            <a:r>
              <a:rPr lang="en-US" altLang="zh-CN" sz="1200" b="0" i="0" u="none" strike="noStrike" kern="1200" cap="none" spc="0" baseline="0">
                <a:solidFill>
                  <a:srgbClr val="334155"/>
                </a:solidFill>
                <a:latin typeface="Inter" pitchFamily="0" charset="0"/>
                <a:ea typeface="宋体" pitchFamily="0" charset="0"/>
                <a:cs typeface="Calibri" pitchFamily="0" charset="0"/>
              </a:rPr>
              <a:t> Investigate causes behind the 20.18% churn rate (89 churned customers) through feedback and post-sale support.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96" name="Rectangle"/>
          <p:cNvSpPr>
            <a:spLocks/>
          </p:cNvSpPr>
          <p:nvPr/>
        </p:nvSpPr>
        <p:spPr>
          <a:xfrm rot="0">
            <a:off x="876299" y="243840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97" name="Rectangle"/>
          <p:cNvSpPr>
            <a:spLocks/>
          </p:cNvSpPr>
          <p:nvPr/>
        </p:nvSpPr>
        <p:spPr>
          <a:xfrm rot="0">
            <a:off x="933450" y="243840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Monitor the profitability of high-performing products such as Laptops and Smartphones.</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98" name="Rectangle"/>
          <p:cNvSpPr>
            <a:spLocks/>
          </p:cNvSpPr>
          <p:nvPr/>
        </p:nvSpPr>
        <p:spPr>
          <a:xfrm rot="0">
            <a:off x="876299" y="3219450"/>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599" name="Rectangle"/>
          <p:cNvSpPr>
            <a:spLocks/>
          </p:cNvSpPr>
          <p:nvPr/>
        </p:nvSpPr>
        <p:spPr>
          <a:xfrm rot="0">
            <a:off x="933450" y="3219450"/>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Review regional profitability regularly, especially where performance is comparatively lower.</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600" name="Rectangle"/>
          <p:cNvSpPr>
            <a:spLocks/>
          </p:cNvSpPr>
          <p:nvPr/>
        </p:nvSpPr>
        <p:spPr>
          <a:xfrm rot="0">
            <a:off x="876299" y="4000499"/>
            <a:ext cx="57150" cy="180975"/>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rgbClr val="334155"/>
                </a:solidFill>
                <a:latin typeface="Inter" pitchFamily="0" charset="0"/>
                <a:ea typeface="宋体" pitchFamily="0" charset="0"/>
                <a:cs typeface="Calibri" pitchFamily="0" charset="0"/>
              </a:rPr>
              <a:t>▪</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sp>
        <p:nvSpPr>
          <p:cNvPr id="601" name="Rectangle"/>
          <p:cNvSpPr>
            <a:spLocks/>
          </p:cNvSpPr>
          <p:nvPr/>
        </p:nvSpPr>
        <p:spPr>
          <a:xfrm rot="0">
            <a:off x="933450" y="4000499"/>
            <a:ext cx="4829175" cy="457200"/>
          </a:xfrm>
          <a:prstGeom prst="rect"/>
          <a:noFill/>
          <a:ln w="12700" cmpd="sng" cap="flat">
            <a:noFill/>
            <a:prstDash val="solid"/>
            <a:miter/>
          </a:ln>
        </p:spPr>
        <p:txBody>
          <a:bodyPr vert="horz" wrap="square" lIns="57150" tIns="0" rIns="0" bIns="0" anchor="t" anchorCtr="0">
            <a:prstTxWarp prst="textNoShape"/>
            <a:spAutoFit/>
          </a:bodyPr>
          <a:lstStyle/>
          <a:p>
            <a:pPr marL="0" indent="0" algn="l">
              <a:lnSpc>
                <a:spcPts val="1800"/>
              </a:lnSpc>
              <a:spcBef>
                <a:spcPts val="0"/>
              </a:spcBef>
              <a:spcAft>
                <a:spcPts val="0"/>
              </a:spcAft>
              <a:buNone/>
            </a:pPr>
            <a:r>
              <a:rPr lang="en-US" altLang="zh-CN" sz="1200" b="1" i="0" u="none" strike="noStrike" kern="1200" cap="none" spc="0" baseline="0">
                <a:solidFill>
                  <a:srgbClr val="334155"/>
                </a:solidFill>
                <a:latin typeface="Inter" pitchFamily="0" charset="0"/>
                <a:ea typeface="宋体" pitchFamily="0" charset="0"/>
                <a:cs typeface="Calibri" pitchFamily="0" charset="0"/>
              </a:rPr>
              <a:t>Maintain Tableau Dashboards:</a:t>
            </a:r>
            <a:r>
              <a:rPr lang="en-US" altLang="zh-CN" sz="1200" b="0" i="0" u="none" strike="noStrike" kern="1200" cap="none" spc="0" baseline="0">
                <a:solidFill>
                  <a:srgbClr val="334155"/>
                </a:solidFill>
                <a:latin typeface="Inter" pitchFamily="0" charset="0"/>
                <a:ea typeface="宋体" pitchFamily="0" charset="0"/>
                <a:cs typeface="Calibri" pitchFamily="0" charset="0"/>
              </a:rPr>
              <a:t> Regularly update the underlying Excel data source to enable dynamic, ongoing performance monitoring.</a:t>
            </a:r>
            <a:endParaRPr lang="zh-CN" altLang="en-US" sz="1200" b="0" i="0" u="none" strike="noStrike" kern="1200" cap="none" spc="0" baseline="0">
              <a:solidFill>
                <a:srgbClr val="334155"/>
              </a:solidFill>
              <a:latin typeface="Inter" pitchFamily="0" charset="0"/>
              <a:ea typeface="宋体" pitchFamily="0" charset="0"/>
              <a:cs typeface="Calibri" pitchFamily="0" charset="0"/>
            </a:endParaRPr>
          </a:p>
        </p:txBody>
      </p:sp>
      <p:pic>
        <p:nvPicPr>
          <p:cNvPr id="602" name="Image" descr="image.png"/>
          <p:cNvPicPr>
            <a:picLocks noChangeAspect="1"/>
          </p:cNvPicPr>
          <p:nvPr/>
        </p:nvPicPr>
        <p:blipFill>
          <a:blip r:embed="rId6" cstate="print"/>
          <a:stretch>
            <a:fillRect/>
          </a:stretch>
        </p:blipFill>
        <p:spPr>
          <a:xfrm rot="0">
            <a:off x="6429375" y="1400174"/>
            <a:ext cx="219075" cy="171450"/>
          </a:xfrm>
          <a:prstGeom prst="rect"/>
          <a:noFill/>
          <a:ln w="12700" cmpd="sng" cap="flat">
            <a:noFill/>
            <a:prstDash val="solid"/>
            <a:miter/>
          </a:ln>
        </p:spPr>
      </p:pic>
    </p:spTree>
    <p:extLst>
      <p:ext uri="{BB962C8B-B14F-4D97-AF65-F5344CB8AC3E}">
        <p14:creationId xmlns:p14="http://schemas.microsoft.com/office/powerpoint/2010/main" val="886654498"/>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3</TotalTime>
  <Application>Office</Application>
</Properties>
</file>

<file path=docProps/core.xml><?xml version="1.0" encoding="utf-8"?>
<cp:coreProperties xmlns:cp="http://schemas.openxmlformats.org/package/2006/metadata/core-properties" xmlns:dc="http://purl.org/dc/elements/1.1/" xmlns:dcterms="http://purl.org/dc/terms/" xmlns:xsi="http://www.w3.org/2001/XMLSchema-instance">
  <dc:description>generated using python-pptx</dc:description>
  <cp:lastModifiedBy>Mobile phone user</cp:lastModifiedBy>
  <cp:revision>1</cp:revision>
  <dcterms:created xsi:type="dcterms:W3CDTF">2013-01-27T09:14:16Z</dcterms:created>
  <dcterms:modified xsi:type="dcterms:W3CDTF">2026-09-03T07:41:21Z</dcterms:modified>
</cp:coreProperties>
</file>